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7.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xml" ContentType="application/vnd.openxmlformats-officedocument.presentationml.slide+xml"/>
  <Override PartName="/ppt/slides/slide8.xml" ContentType="application/vnd.openxmlformats-officedocument.presentationml.slid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0" r:id="rId6"/>
    <p:sldId id="261" r:id="rId7"/>
    <p:sldId id="272" r:id="rId8"/>
    <p:sldId id="267" r:id="rId9"/>
    <p:sldId id="262" r:id="rId10"/>
    <p:sldId id="265" r:id="rId11"/>
    <p:sldId id="263" r:id="rId12"/>
    <p:sldId id="273" r:id="rId13"/>
    <p:sldId id="268" r:id="rId14"/>
    <p:sldId id="269" r:id="rId15"/>
    <p:sldId id="270" r:id="rId16"/>
    <p:sldId id="271" r:id="rId17"/>
    <p:sldId id="275" r:id="rId18"/>
    <p:sldId id="276" r:id="rId19"/>
    <p:sldId id="266" r:id="rId20"/>
    <p:sldId id="277" r:id="rId21"/>
    <p:sldId id="278" r:id="rId22"/>
    <p:sldId id="264"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93" d="100"/>
          <a:sy n="93" d="100"/>
        </p:scale>
        <p:origin x="8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 Id="rId30" Type="http://schemas.openxmlformats.org/officeDocument/2006/relationships/customXml" Target="../customXml/item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B9FE983-DBE2-49FF-92F3-86A058AFB541}" type="datetimeFigureOut">
              <a:rPr lang="en-CA" smtClean="0"/>
              <a:t>2019-06-25</a:t>
            </a:fld>
            <a:endParaRPr lang="en-CA"/>
          </a:p>
        </p:txBody>
      </p:sp>
      <p:sp>
        <p:nvSpPr>
          <p:cNvPr id="5" name="Footer Placeholder 4"/>
          <p:cNvSpPr>
            <a:spLocks noGrp="1"/>
          </p:cNvSpPr>
          <p:nvPr>
            <p:ph type="ftr" sz="quarter" idx="11"/>
          </p:nvPr>
        </p:nvSpPr>
        <p:spPr/>
        <p:txBody>
          <a:bodyPr/>
          <a:lstStyle/>
          <a:p>
            <a:endParaRPr lang="en-CA"/>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B70424B9-5D24-4FFD-ABDE-4970EF48A480}" type="slidenum">
              <a:rPr lang="en-CA" smtClean="0"/>
              <a:t>‹#›</a:t>
            </a:fld>
            <a:endParaRPr lang="en-CA"/>
          </a:p>
        </p:txBody>
      </p:sp>
    </p:spTree>
    <p:extLst>
      <p:ext uri="{BB962C8B-B14F-4D97-AF65-F5344CB8AC3E}">
        <p14:creationId xmlns:p14="http://schemas.microsoft.com/office/powerpoint/2010/main" val="30382897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9FE983-DBE2-49FF-92F3-86A058AFB541}" type="datetimeFigureOut">
              <a:rPr lang="en-CA" smtClean="0"/>
              <a:t>2019-06-25</a:t>
            </a:fld>
            <a:endParaRPr lang="en-CA"/>
          </a:p>
        </p:txBody>
      </p:sp>
      <p:sp>
        <p:nvSpPr>
          <p:cNvPr id="5" name="Footer Placeholder 4"/>
          <p:cNvSpPr>
            <a:spLocks noGrp="1"/>
          </p:cNvSpPr>
          <p:nvPr>
            <p:ph type="ftr" sz="quarter" idx="11"/>
          </p:nvPr>
        </p:nvSpPr>
        <p:spPr/>
        <p:txBody>
          <a:bodyPr/>
          <a:lstStyle/>
          <a:p>
            <a:endParaRPr lang="en-CA"/>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70424B9-5D24-4FFD-ABDE-4970EF48A480}" type="slidenum">
              <a:rPr lang="en-CA" smtClean="0"/>
              <a:t>‹#›</a:t>
            </a:fld>
            <a:endParaRPr lang="en-CA"/>
          </a:p>
        </p:txBody>
      </p:sp>
    </p:spTree>
    <p:extLst>
      <p:ext uri="{BB962C8B-B14F-4D97-AF65-F5344CB8AC3E}">
        <p14:creationId xmlns:p14="http://schemas.microsoft.com/office/powerpoint/2010/main" val="1048354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9FE983-DBE2-49FF-92F3-86A058AFB541}" type="datetimeFigureOut">
              <a:rPr lang="en-CA" smtClean="0"/>
              <a:t>2019-06-25</a:t>
            </a:fld>
            <a:endParaRPr lang="en-CA"/>
          </a:p>
        </p:txBody>
      </p:sp>
      <p:sp>
        <p:nvSpPr>
          <p:cNvPr id="5" name="Footer Placeholder 4"/>
          <p:cNvSpPr>
            <a:spLocks noGrp="1"/>
          </p:cNvSpPr>
          <p:nvPr>
            <p:ph type="ftr" sz="quarter" idx="11"/>
          </p:nvPr>
        </p:nvSpPr>
        <p:spPr/>
        <p:txBody>
          <a:bodyPr/>
          <a:lstStyle/>
          <a:p>
            <a:endParaRPr lang="en-CA"/>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70424B9-5D24-4FFD-ABDE-4970EF48A480}" type="slidenum">
              <a:rPr lang="en-CA" smtClean="0"/>
              <a:t>‹#›</a:t>
            </a:fld>
            <a:endParaRPr lang="en-CA"/>
          </a:p>
        </p:txBody>
      </p:sp>
    </p:spTree>
    <p:extLst>
      <p:ext uri="{BB962C8B-B14F-4D97-AF65-F5344CB8AC3E}">
        <p14:creationId xmlns:p14="http://schemas.microsoft.com/office/powerpoint/2010/main" val="21306208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B9FE983-DBE2-49FF-92F3-86A058AFB541}" type="datetimeFigureOut">
              <a:rPr lang="en-CA" smtClean="0"/>
              <a:t>2019-06-25</a:t>
            </a:fld>
            <a:endParaRPr lang="en-CA"/>
          </a:p>
        </p:txBody>
      </p:sp>
      <p:sp>
        <p:nvSpPr>
          <p:cNvPr id="6" name="Footer Placeholder 5"/>
          <p:cNvSpPr>
            <a:spLocks noGrp="1"/>
          </p:cNvSpPr>
          <p:nvPr>
            <p:ph type="ftr" sz="quarter" idx="11"/>
          </p:nvPr>
        </p:nvSpPr>
        <p:spPr/>
        <p:txBody>
          <a:bodyPr/>
          <a:lstStyle/>
          <a:p>
            <a:endParaRPr lang="en-CA"/>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70424B9-5D24-4FFD-ABDE-4970EF48A480}" type="slidenum">
              <a:rPr lang="en-CA" smtClean="0"/>
              <a:t>‹#›</a:t>
            </a:fld>
            <a:endParaRPr lang="en-CA"/>
          </a:p>
        </p:txBody>
      </p:sp>
    </p:spTree>
    <p:extLst>
      <p:ext uri="{BB962C8B-B14F-4D97-AF65-F5344CB8AC3E}">
        <p14:creationId xmlns:p14="http://schemas.microsoft.com/office/powerpoint/2010/main" val="3379803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B9FE983-DBE2-49FF-92F3-86A058AFB541}" type="datetimeFigureOut">
              <a:rPr lang="en-CA" smtClean="0"/>
              <a:t>2019-06-25</a:t>
            </a:fld>
            <a:endParaRPr lang="en-CA"/>
          </a:p>
        </p:txBody>
      </p:sp>
      <p:sp>
        <p:nvSpPr>
          <p:cNvPr id="8" name="Footer Placeholder 7"/>
          <p:cNvSpPr>
            <a:spLocks noGrp="1"/>
          </p:cNvSpPr>
          <p:nvPr>
            <p:ph type="ftr" sz="quarter" idx="11"/>
          </p:nvPr>
        </p:nvSpPr>
        <p:spPr/>
        <p:txBody>
          <a:bodyPr/>
          <a:lstStyle/>
          <a:p>
            <a:endParaRPr lang="en-CA"/>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B70424B9-5D24-4FFD-ABDE-4970EF48A480}" type="slidenum">
              <a:rPr lang="en-CA" smtClean="0"/>
              <a:t>‹#›</a:t>
            </a:fld>
            <a:endParaRPr lang="en-CA"/>
          </a:p>
        </p:txBody>
      </p:sp>
    </p:spTree>
    <p:extLst>
      <p:ext uri="{BB962C8B-B14F-4D97-AF65-F5344CB8AC3E}">
        <p14:creationId xmlns:p14="http://schemas.microsoft.com/office/powerpoint/2010/main" val="6439481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B9FE983-DBE2-49FF-92F3-86A058AFB541}" type="datetimeFigureOut">
              <a:rPr lang="en-CA" smtClean="0"/>
              <a:t>2019-06-25</a:t>
            </a:fld>
            <a:endParaRPr lang="en-CA"/>
          </a:p>
        </p:txBody>
      </p:sp>
      <p:sp>
        <p:nvSpPr>
          <p:cNvPr id="4" name="Footer Placeholder 3"/>
          <p:cNvSpPr>
            <a:spLocks noGrp="1"/>
          </p:cNvSpPr>
          <p:nvPr>
            <p:ph type="ftr" sz="quarter" idx="11"/>
          </p:nvPr>
        </p:nvSpPr>
        <p:spPr/>
        <p:txBody>
          <a:bodyPr/>
          <a:lstStyle/>
          <a:p>
            <a:endParaRPr lang="en-CA"/>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B70424B9-5D24-4FFD-ABDE-4970EF48A480}" type="slidenum">
              <a:rPr lang="en-CA" smtClean="0"/>
              <a:t>‹#›</a:t>
            </a:fld>
            <a:endParaRPr lang="en-CA"/>
          </a:p>
        </p:txBody>
      </p:sp>
    </p:spTree>
    <p:extLst>
      <p:ext uri="{BB962C8B-B14F-4D97-AF65-F5344CB8AC3E}">
        <p14:creationId xmlns:p14="http://schemas.microsoft.com/office/powerpoint/2010/main" val="15653530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B9FE983-DBE2-49FF-92F3-86A058AFB541}" type="datetimeFigureOut">
              <a:rPr lang="en-CA" smtClean="0"/>
              <a:t>2019-06-25</a:t>
            </a:fld>
            <a:endParaRPr lang="en-CA"/>
          </a:p>
        </p:txBody>
      </p:sp>
      <p:sp>
        <p:nvSpPr>
          <p:cNvPr id="3" name="Footer Placeholder 2"/>
          <p:cNvSpPr>
            <a:spLocks noGrp="1"/>
          </p:cNvSpPr>
          <p:nvPr>
            <p:ph type="ftr" sz="quarter" idx="11"/>
          </p:nvPr>
        </p:nvSpPr>
        <p:spPr/>
        <p:txBody>
          <a:bodyPr/>
          <a:lstStyle/>
          <a:p>
            <a:endParaRPr lang="en-CA"/>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B70424B9-5D24-4FFD-ABDE-4970EF48A480}" type="slidenum">
              <a:rPr lang="en-CA" smtClean="0"/>
              <a:t>‹#›</a:t>
            </a:fld>
            <a:endParaRPr lang="en-CA"/>
          </a:p>
        </p:txBody>
      </p:sp>
    </p:spTree>
    <p:extLst>
      <p:ext uri="{BB962C8B-B14F-4D97-AF65-F5344CB8AC3E}">
        <p14:creationId xmlns:p14="http://schemas.microsoft.com/office/powerpoint/2010/main" val="26933399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9FE983-DBE2-49FF-92F3-86A058AFB541}" type="datetimeFigureOut">
              <a:rPr lang="en-CA" smtClean="0"/>
              <a:t>2019-06-25</a:t>
            </a:fld>
            <a:endParaRPr lang="en-CA"/>
          </a:p>
        </p:txBody>
      </p:sp>
      <p:sp>
        <p:nvSpPr>
          <p:cNvPr id="6" name="Footer Placeholder 5"/>
          <p:cNvSpPr>
            <a:spLocks noGrp="1"/>
          </p:cNvSpPr>
          <p:nvPr>
            <p:ph type="ftr" sz="quarter" idx="11"/>
          </p:nvPr>
        </p:nvSpPr>
        <p:spPr/>
        <p:txBody>
          <a:bodyPr/>
          <a:lstStyle/>
          <a:p>
            <a:endParaRPr lang="en-CA"/>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B70424B9-5D24-4FFD-ABDE-4970EF48A480}" type="slidenum">
              <a:rPr lang="en-CA" smtClean="0"/>
              <a:t>‹#›</a:t>
            </a:fld>
            <a:endParaRPr lang="en-CA"/>
          </a:p>
        </p:txBody>
      </p:sp>
    </p:spTree>
    <p:extLst>
      <p:ext uri="{BB962C8B-B14F-4D97-AF65-F5344CB8AC3E}">
        <p14:creationId xmlns:p14="http://schemas.microsoft.com/office/powerpoint/2010/main" val="29626441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B9FE983-DBE2-49FF-92F3-86A058AFB541}" type="datetimeFigureOut">
              <a:rPr lang="en-CA" smtClean="0"/>
              <a:t>2019-06-25</a:t>
            </a:fld>
            <a:endParaRPr lang="en-CA"/>
          </a:p>
        </p:txBody>
      </p:sp>
      <p:sp>
        <p:nvSpPr>
          <p:cNvPr id="6" name="Footer Placeholder 5"/>
          <p:cNvSpPr>
            <a:spLocks noGrp="1"/>
          </p:cNvSpPr>
          <p:nvPr>
            <p:ph type="ftr" sz="quarter" idx="11"/>
          </p:nvPr>
        </p:nvSpPr>
        <p:spPr/>
        <p:txBody>
          <a:bodyPr/>
          <a:lstStyle/>
          <a:p>
            <a:endParaRPr lang="en-CA"/>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70424B9-5D24-4FFD-ABDE-4970EF48A480}" type="slidenum">
              <a:rPr lang="en-CA" smtClean="0"/>
              <a:t>‹#›</a:t>
            </a:fld>
            <a:endParaRPr lang="en-CA"/>
          </a:p>
        </p:txBody>
      </p:sp>
    </p:spTree>
    <p:extLst>
      <p:ext uri="{BB962C8B-B14F-4D97-AF65-F5344CB8AC3E}">
        <p14:creationId xmlns:p14="http://schemas.microsoft.com/office/powerpoint/2010/main" val="2048622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9FE983-DBE2-49FF-92F3-86A058AFB541}" type="datetimeFigureOut">
              <a:rPr lang="en-CA" smtClean="0"/>
              <a:t>2019-06-25</a:t>
            </a:fld>
            <a:endParaRPr lang="en-CA"/>
          </a:p>
        </p:txBody>
      </p:sp>
      <p:sp>
        <p:nvSpPr>
          <p:cNvPr id="5" name="Footer Placeholder 4"/>
          <p:cNvSpPr>
            <a:spLocks noGrp="1"/>
          </p:cNvSpPr>
          <p:nvPr>
            <p:ph type="ftr" sz="quarter" idx="11"/>
          </p:nvPr>
        </p:nvSpPr>
        <p:spPr/>
        <p:txBody>
          <a:bodyPr/>
          <a:lstStyle/>
          <a:p>
            <a:endParaRPr lang="en-CA"/>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70424B9-5D24-4FFD-ABDE-4970EF48A480}" type="slidenum">
              <a:rPr lang="en-CA" smtClean="0"/>
              <a:t>‹#›</a:t>
            </a:fld>
            <a:endParaRPr lang="en-CA"/>
          </a:p>
        </p:txBody>
      </p:sp>
    </p:spTree>
    <p:extLst>
      <p:ext uri="{BB962C8B-B14F-4D97-AF65-F5344CB8AC3E}">
        <p14:creationId xmlns:p14="http://schemas.microsoft.com/office/powerpoint/2010/main" val="15891611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B9FE983-DBE2-49FF-92F3-86A058AFB541}" type="datetimeFigureOut">
              <a:rPr lang="en-CA" smtClean="0"/>
              <a:t>2019-06-25</a:t>
            </a:fld>
            <a:endParaRPr lang="en-CA"/>
          </a:p>
        </p:txBody>
      </p:sp>
      <p:sp>
        <p:nvSpPr>
          <p:cNvPr id="5" name="Footer Placeholder 4"/>
          <p:cNvSpPr>
            <a:spLocks noGrp="1"/>
          </p:cNvSpPr>
          <p:nvPr>
            <p:ph type="ftr" sz="quarter" idx="11"/>
          </p:nvPr>
        </p:nvSpPr>
        <p:spPr/>
        <p:txBody>
          <a:bodyPr/>
          <a:lstStyle/>
          <a:p>
            <a:endParaRPr lang="en-CA"/>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B70424B9-5D24-4FFD-ABDE-4970EF48A480}" type="slidenum">
              <a:rPr lang="en-CA" smtClean="0"/>
              <a:t>‹#›</a:t>
            </a:fld>
            <a:endParaRPr lang="en-CA"/>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8760212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B9FE983-DBE2-49FF-92F3-86A058AFB541}" type="datetimeFigureOut">
              <a:rPr lang="en-CA" smtClean="0"/>
              <a:t>2019-06-25</a:t>
            </a:fld>
            <a:endParaRPr lang="en-CA"/>
          </a:p>
        </p:txBody>
      </p:sp>
      <p:sp>
        <p:nvSpPr>
          <p:cNvPr id="6" name="Footer Placeholder 5"/>
          <p:cNvSpPr>
            <a:spLocks noGrp="1"/>
          </p:cNvSpPr>
          <p:nvPr>
            <p:ph type="ftr" sz="quarter" idx="11"/>
          </p:nvPr>
        </p:nvSpPr>
        <p:spPr/>
        <p:txBody>
          <a:bodyPr/>
          <a:lstStyle/>
          <a:p>
            <a:endParaRPr lang="en-CA"/>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70424B9-5D24-4FFD-ABDE-4970EF48A480}" type="slidenum">
              <a:rPr lang="en-CA" smtClean="0"/>
              <a:t>‹#›</a:t>
            </a:fld>
            <a:endParaRPr lang="en-CA"/>
          </a:p>
        </p:txBody>
      </p:sp>
    </p:spTree>
    <p:extLst>
      <p:ext uri="{BB962C8B-B14F-4D97-AF65-F5344CB8AC3E}">
        <p14:creationId xmlns:p14="http://schemas.microsoft.com/office/powerpoint/2010/main" val="16217551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B9FE983-DBE2-49FF-92F3-86A058AFB541}" type="datetimeFigureOut">
              <a:rPr lang="en-CA" smtClean="0"/>
              <a:t>2019-06-25</a:t>
            </a:fld>
            <a:endParaRPr lang="en-CA"/>
          </a:p>
        </p:txBody>
      </p:sp>
      <p:sp>
        <p:nvSpPr>
          <p:cNvPr id="6" name="Footer Placeholder 5"/>
          <p:cNvSpPr>
            <a:spLocks noGrp="1"/>
          </p:cNvSpPr>
          <p:nvPr>
            <p:ph type="ftr" sz="quarter" idx="11"/>
          </p:nvPr>
        </p:nvSpPr>
        <p:spPr/>
        <p:txBody>
          <a:bodyPr/>
          <a:lstStyle/>
          <a:p>
            <a:endParaRPr lang="en-CA"/>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70424B9-5D24-4FFD-ABDE-4970EF48A480}" type="slidenum">
              <a:rPr lang="en-CA" smtClean="0"/>
              <a:t>‹#›</a:t>
            </a:fld>
            <a:endParaRPr lang="en-CA"/>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47163311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9B9FE983-DBE2-49FF-92F3-86A058AFB541}" type="datetimeFigureOut">
              <a:rPr lang="en-CA" smtClean="0"/>
              <a:t>2019-06-25</a:t>
            </a:fld>
            <a:endParaRPr lang="en-CA"/>
          </a:p>
        </p:txBody>
      </p:sp>
      <p:sp>
        <p:nvSpPr>
          <p:cNvPr id="6" name="Footer Placeholder 5"/>
          <p:cNvSpPr>
            <a:spLocks noGrp="1"/>
          </p:cNvSpPr>
          <p:nvPr>
            <p:ph type="ftr" sz="quarter" idx="11"/>
          </p:nvPr>
        </p:nvSpPr>
        <p:spPr/>
        <p:txBody>
          <a:bodyPr/>
          <a:lstStyle/>
          <a:p>
            <a:endParaRPr lang="en-CA"/>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B70424B9-5D24-4FFD-ABDE-4970EF48A480}" type="slidenum">
              <a:rPr lang="en-CA" smtClean="0"/>
              <a:t>‹#›</a:t>
            </a:fld>
            <a:endParaRPr lang="en-CA"/>
          </a:p>
        </p:txBody>
      </p:sp>
    </p:spTree>
    <p:extLst>
      <p:ext uri="{BB962C8B-B14F-4D97-AF65-F5344CB8AC3E}">
        <p14:creationId xmlns:p14="http://schemas.microsoft.com/office/powerpoint/2010/main" val="3132864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9FE983-DBE2-49FF-92F3-86A058AFB541}" type="datetimeFigureOut">
              <a:rPr lang="en-CA" smtClean="0"/>
              <a:t>2019-06-25</a:t>
            </a:fld>
            <a:endParaRPr lang="en-CA"/>
          </a:p>
        </p:txBody>
      </p:sp>
      <p:sp>
        <p:nvSpPr>
          <p:cNvPr id="5" name="Footer Placeholder 4"/>
          <p:cNvSpPr>
            <a:spLocks noGrp="1"/>
          </p:cNvSpPr>
          <p:nvPr>
            <p:ph type="ftr" sz="quarter" idx="11"/>
          </p:nvPr>
        </p:nvSpPr>
        <p:spPr/>
        <p:txBody>
          <a:bodyPr/>
          <a:lstStyle/>
          <a:p>
            <a:endParaRPr lang="en-CA"/>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70424B9-5D24-4FFD-ABDE-4970EF48A480}" type="slidenum">
              <a:rPr lang="en-CA" smtClean="0"/>
              <a:t>‹#›</a:t>
            </a:fld>
            <a:endParaRPr lang="en-CA"/>
          </a:p>
        </p:txBody>
      </p:sp>
    </p:spTree>
    <p:extLst>
      <p:ext uri="{BB962C8B-B14F-4D97-AF65-F5344CB8AC3E}">
        <p14:creationId xmlns:p14="http://schemas.microsoft.com/office/powerpoint/2010/main" val="378324680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B9FE983-DBE2-49FF-92F3-86A058AFB541}" type="datetimeFigureOut">
              <a:rPr lang="en-CA" smtClean="0"/>
              <a:t>2019-06-25</a:t>
            </a:fld>
            <a:endParaRPr lang="en-CA"/>
          </a:p>
        </p:txBody>
      </p:sp>
      <p:sp>
        <p:nvSpPr>
          <p:cNvPr id="5" name="Footer Placeholder 4"/>
          <p:cNvSpPr>
            <a:spLocks noGrp="1"/>
          </p:cNvSpPr>
          <p:nvPr>
            <p:ph type="ftr" sz="quarter" idx="11"/>
          </p:nvPr>
        </p:nvSpPr>
        <p:spPr/>
        <p:txBody>
          <a:bodyPr/>
          <a:lstStyle/>
          <a:p>
            <a:endParaRPr lang="en-CA"/>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B70424B9-5D24-4FFD-ABDE-4970EF48A480}" type="slidenum">
              <a:rPr lang="en-CA" smtClean="0"/>
              <a:t>‹#›</a:t>
            </a:fld>
            <a:endParaRPr lang="en-CA"/>
          </a:p>
        </p:txBody>
      </p:sp>
    </p:spTree>
    <p:extLst>
      <p:ext uri="{BB962C8B-B14F-4D97-AF65-F5344CB8AC3E}">
        <p14:creationId xmlns:p14="http://schemas.microsoft.com/office/powerpoint/2010/main" val="4067575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B9FE983-DBE2-49FF-92F3-86A058AFB541}" type="datetimeFigureOut">
              <a:rPr lang="en-CA" smtClean="0"/>
              <a:t>2019-06-25</a:t>
            </a:fld>
            <a:endParaRPr lang="en-CA"/>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CA"/>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B70424B9-5D24-4FFD-ABDE-4970EF48A480}" type="slidenum">
              <a:rPr lang="en-CA" smtClean="0"/>
              <a:t>‹#›</a:t>
            </a:fld>
            <a:endParaRPr lang="en-CA"/>
          </a:p>
        </p:txBody>
      </p:sp>
    </p:spTree>
    <p:extLst>
      <p:ext uri="{BB962C8B-B14F-4D97-AF65-F5344CB8AC3E}">
        <p14:creationId xmlns:p14="http://schemas.microsoft.com/office/powerpoint/2010/main" val="209530356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en.wikipedia.org/wiki/Filter_graph" TargetMode="External"/><Relationship Id="rId2" Type="http://schemas.openxmlformats.org/officeDocument/2006/relationships/hyperlink" Target="https://en.wikipedia.org/wiki/Pipeline_(software)"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en.wikipedia.org/wiki/DirectShow"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gstreamer.freedesktop.org/documentation/index.html?gi-language=c" TargetMode="Externa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hyperlink" Target="http://developer.gnome.org/gobject/stable/" TargetMode="External"/><Relationship Id="rId2" Type="http://schemas.openxmlformats.org/officeDocument/2006/relationships/hyperlink" Target="https://gstreamer.freedesktop.org/features/index.html" TargetMode="External"/><Relationship Id="rId1" Type="http://schemas.openxmlformats.org/officeDocument/2006/relationships/slideLayout" Target="../slideLayouts/slideLayout2.xml"/><Relationship Id="rId5" Type="http://schemas.openxmlformats.org/officeDocument/2006/relationships/hyperlink" Target="https://gstreamer.freedesktop.org/documentation/tutorials/playback/hardware-accelerated-video-decoding.html?gi-language=c#conclusion" TargetMode="External"/><Relationship Id="rId4" Type="http://schemas.openxmlformats.org/officeDocument/2006/relationships/hyperlink" Target="https://wiki.ligo.org/Computing/DASWG/GstLAL" TargetMode="External"/></Relationships>
</file>

<file path=ppt/slides/_rels/slide7.xml.rels><?xml version="1.0" encoding="UTF-8" standalone="yes"?>
<Relationships xmlns="http://schemas.openxmlformats.org/package/2006/relationships"><Relationship Id="rId3" Type="http://schemas.openxmlformats.org/officeDocument/2006/relationships/hyperlink" Target="https://en.wikipedia.org/wiki/GObject" TargetMode="External"/><Relationship Id="rId2" Type="http://schemas.openxmlformats.org/officeDocument/2006/relationships/hyperlink" Target="https://developer.gnome.org/gobject/stable/ch01s02.html"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hyperlink" Target="https://gstreamer.freedesktop.org/documentation/tutorials/basic/dynamic-pipelines.html?gi-language=c#introduction" TargetMode="External"/><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JPG"/></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see_track_src.txt" TargetMode="External"/><Relationship Id="rId2" Type="http://schemas.openxmlformats.org/officeDocument/2006/relationships/hyperlink" Target="see_elems.txt" TargetMode="External"/><Relationship Id="rId1" Type="http://schemas.openxmlformats.org/officeDocument/2006/relationships/slideLayout" Target="../slideLayouts/slideLayout2.xml"/><Relationship Id="rId5" Type="http://schemas.openxmlformats.org/officeDocument/2006/relationships/hyperlink" Target="see_track_bin.txt" TargetMode="External"/><Relationship Id="rId4" Type="http://schemas.openxmlformats.org/officeDocument/2006/relationships/hyperlink" Target="see_track_overlay.txt"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8.xml"/><Relationship Id="rId4" Type="http://schemas.openxmlformats.org/officeDocument/2006/relationships/hyperlink" Target="NDIVideoPipelineWithBin.png"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8.xml"/><Relationship Id="rId4" Type="http://schemas.openxmlformats.org/officeDocument/2006/relationships/hyperlink" Target="NDIVideoPipelineWithBin.png" TargetMode="External"/></Relationships>
</file>

<file path=ppt/slides/_rels/slide19.xml.rels><?xml version="1.0" encoding="UTF-8" standalone="yes"?>
<Relationships xmlns="http://schemas.openxmlformats.org/package/2006/relationships"><Relationship Id="rId2" Type="http://schemas.openxmlformats.org/officeDocument/2006/relationships/hyperlink" Target="https://gstreamer.freedesktop.org/documentation/application-development/introduction/basics.html?gi-language=c#communication"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code.fb.com/android/improving-facebook-s-performance-on-android-with-flatbuffers/" TargetMode="External"/><Relationship Id="rId2" Type="http://schemas.openxmlformats.org/officeDocument/2006/relationships/hyperlink" Target="https://google.github.io/flatbuffers/" TargetMode="External"/><Relationship Id="rId1" Type="http://schemas.openxmlformats.org/officeDocument/2006/relationships/slideLayout" Target="../slideLayouts/slideLayout8.xml"/><Relationship Id="rId5" Type="http://schemas.openxmlformats.org/officeDocument/2006/relationships/image" Target="../media/image18.jpg"/><Relationship Id="rId4" Type="http://schemas.openxmlformats.org/officeDocument/2006/relationships/hyperlink" Target="flattooldata.txt" TargetMode="External"/></Relationships>
</file>

<file path=ppt/slides/_rels/slide22.xml.rels><?xml version="1.0" encoding="UTF-8" standalone="yes"?>
<Relationships xmlns="http://schemas.openxmlformats.org/package/2006/relationships"><Relationship Id="rId3" Type="http://schemas.openxmlformats.org/officeDocument/2006/relationships/hyperlink" Target="nativetest.mp4" TargetMode="External"/><Relationship Id="rId2" Type="http://schemas.openxmlformats.org/officeDocument/2006/relationships/hyperlink" Target="NDIVideoPipelineWithBin.png"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CA" dirty="0"/>
              <a:t>NDI and GStreamer</a:t>
            </a:r>
          </a:p>
        </p:txBody>
      </p:sp>
      <p:sp>
        <p:nvSpPr>
          <p:cNvPr id="3" name="Subtitle 2"/>
          <p:cNvSpPr>
            <a:spLocks noGrp="1"/>
          </p:cNvSpPr>
          <p:nvPr>
            <p:ph type="subTitle" idx="1"/>
          </p:nvPr>
        </p:nvSpPr>
        <p:spPr/>
        <p:txBody>
          <a:bodyPr/>
          <a:lstStyle/>
          <a:p>
            <a:r>
              <a:rPr lang="en-CA" dirty="0"/>
              <a:t>Video and Custom Track Data Streams</a:t>
            </a:r>
          </a:p>
        </p:txBody>
      </p:sp>
    </p:spTree>
    <p:extLst>
      <p:ext uri="{BB962C8B-B14F-4D97-AF65-F5344CB8AC3E}">
        <p14:creationId xmlns:p14="http://schemas.microsoft.com/office/powerpoint/2010/main" val="11847413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Architecture</a:t>
            </a:r>
          </a:p>
        </p:txBody>
      </p:sp>
      <p:sp>
        <p:nvSpPr>
          <p:cNvPr id="3" name="Content Placeholder 2"/>
          <p:cNvSpPr>
            <a:spLocks noGrp="1"/>
          </p:cNvSpPr>
          <p:nvPr>
            <p:ph idx="1"/>
          </p:nvPr>
        </p:nvSpPr>
        <p:spPr/>
        <p:txBody>
          <a:bodyPr/>
          <a:lstStyle/>
          <a:p>
            <a:r>
              <a:rPr lang="en-CA" dirty="0">
                <a:hlinkClick r:id="rId2"/>
              </a:rPr>
              <a:t>Pipeline</a:t>
            </a:r>
            <a:endParaRPr lang="en-CA" dirty="0"/>
          </a:p>
          <a:p>
            <a:pPr lvl="2"/>
            <a:r>
              <a:rPr lang="en-CA" i="1" dirty="0"/>
              <a:t>… </a:t>
            </a:r>
            <a:r>
              <a:rPr lang="en-US" i="1" dirty="0"/>
              <a:t>a pipeline consists of a chain of processing elements (processes, threads, coroutines, functions, etc.), arranged so that the output of each element is the input of the next; the name is by analogy to a physical pipeline</a:t>
            </a:r>
            <a:r>
              <a:rPr lang="en-CA" i="1"/>
              <a:t>…</a:t>
            </a:r>
            <a:endParaRPr lang="en-CA" dirty="0">
              <a:latin typeface="Courier New" panose="02070309020205020404" pitchFamily="49" charset="0"/>
            </a:endParaRPr>
          </a:p>
          <a:p>
            <a:r>
              <a:rPr lang="en-CA" dirty="0">
                <a:hlinkClick r:id="rId3"/>
              </a:rPr>
              <a:t>Filter graph</a:t>
            </a:r>
            <a:endParaRPr lang="en-CA" dirty="0"/>
          </a:p>
          <a:p>
            <a:pPr lvl="1"/>
            <a:r>
              <a:rPr lang="en-CA" i="1" dirty="0"/>
              <a:t>A filter graph is used in multimedia processing…</a:t>
            </a:r>
          </a:p>
        </p:txBody>
      </p:sp>
    </p:spTree>
    <p:extLst>
      <p:ext uri="{BB962C8B-B14F-4D97-AF65-F5344CB8AC3E}">
        <p14:creationId xmlns:p14="http://schemas.microsoft.com/office/powerpoint/2010/main" val="3607837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636279"/>
          </a:xfrm>
        </p:spPr>
        <p:txBody>
          <a:bodyPr>
            <a:noAutofit/>
          </a:bodyPr>
          <a:lstStyle/>
          <a:p>
            <a:r>
              <a:rPr lang="en-CA" dirty="0"/>
              <a:t>Direct Show</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89213" y="2914233"/>
            <a:ext cx="8915400" cy="3551514"/>
          </a:xfrm>
        </p:spPr>
      </p:pic>
      <p:sp>
        <p:nvSpPr>
          <p:cNvPr id="5" name="TextBox 4"/>
          <p:cNvSpPr txBox="1"/>
          <p:nvPr/>
        </p:nvSpPr>
        <p:spPr>
          <a:xfrm>
            <a:off x="2589213" y="1622854"/>
            <a:ext cx="8915399" cy="646331"/>
          </a:xfrm>
          <a:prstGeom prst="rect">
            <a:avLst/>
          </a:prstGeom>
          <a:noFill/>
        </p:spPr>
        <p:txBody>
          <a:bodyPr wrap="square" rtlCol="0">
            <a:spAutoFit/>
          </a:bodyPr>
          <a:lstStyle/>
          <a:p>
            <a:r>
              <a:rPr lang="en-CA" dirty="0">
                <a:hlinkClick r:id="rId3"/>
              </a:rPr>
              <a:t>DirectShow</a:t>
            </a:r>
            <a:r>
              <a:rPr lang="en-CA" dirty="0"/>
              <a:t> divides a complex multimedia task into a sequence of fundamental processing steps known as filters.</a:t>
            </a:r>
          </a:p>
        </p:txBody>
      </p:sp>
    </p:spTree>
    <p:extLst>
      <p:ext uri="{BB962C8B-B14F-4D97-AF65-F5344CB8AC3E}">
        <p14:creationId xmlns:p14="http://schemas.microsoft.com/office/powerpoint/2010/main" val="2169632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Broadcast Industry</a:t>
            </a:r>
          </a:p>
        </p:txBody>
      </p:sp>
      <p:pic>
        <p:nvPicPr>
          <p:cNvPr id="5" name="Content Placeholder 4"/>
          <p:cNvPicPr>
            <a:picLocks noGrp="1" noChangeAspect="1"/>
          </p:cNvPicPr>
          <p:nvPr>
            <p:ph sz="half" idx="1"/>
          </p:nvPr>
        </p:nvPicPr>
        <p:blipFill>
          <a:blip r:embed="rId2" cstate="print">
            <a:extLst>
              <a:ext uri="{28A0092B-C50C-407E-A947-70E740481C1C}">
                <a14:useLocalDpi xmlns:a14="http://schemas.microsoft.com/office/drawing/2010/main" val="0"/>
              </a:ext>
            </a:extLst>
          </a:blip>
          <a:stretch>
            <a:fillRect/>
          </a:stretch>
        </p:blipFill>
        <p:spPr>
          <a:xfrm>
            <a:off x="2693773" y="2133600"/>
            <a:ext cx="3555437" cy="4467714"/>
          </a:xfrm>
        </p:spPr>
      </p:pic>
      <p:pic>
        <p:nvPicPr>
          <p:cNvPr id="6" name="Content Placeholder 5"/>
          <p:cNvPicPr>
            <a:picLocks noGrp="1" noChangeAspect="1"/>
          </p:cNvPicPr>
          <p:nvPr>
            <p:ph sz="half" idx="2"/>
          </p:nvPr>
        </p:nvPicPr>
        <p:blipFill>
          <a:blip r:embed="rId3" cstate="print">
            <a:extLst>
              <a:ext uri="{28A0092B-C50C-407E-A947-70E740481C1C}">
                <a14:useLocalDpi xmlns:a14="http://schemas.microsoft.com/office/drawing/2010/main" val="0"/>
              </a:ext>
            </a:extLst>
          </a:blip>
          <a:stretch>
            <a:fillRect/>
          </a:stretch>
        </p:blipFill>
        <p:spPr>
          <a:xfrm>
            <a:off x="6345046" y="2133600"/>
            <a:ext cx="5631252" cy="3048795"/>
          </a:xfrm>
        </p:spPr>
      </p:pic>
    </p:spTree>
    <p:extLst>
      <p:ext uri="{BB962C8B-B14F-4D97-AF65-F5344CB8AC3E}">
        <p14:creationId xmlns:p14="http://schemas.microsoft.com/office/powerpoint/2010/main" val="2081893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3600" dirty="0">
                <a:hlinkClick r:id="rId2"/>
              </a:rPr>
              <a:t>GStreamer</a:t>
            </a:r>
            <a:endParaRPr lang="en-CA" sz="3600" dirty="0"/>
          </a:p>
        </p:txBody>
      </p:sp>
      <p:pic>
        <p:nvPicPr>
          <p:cNvPr id="5"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094411" y="2667699"/>
            <a:ext cx="5181600" cy="1916930"/>
          </a:xfrm>
        </p:spPr>
      </p:pic>
      <p:sp>
        <p:nvSpPr>
          <p:cNvPr id="4" name="Text Placeholder 3"/>
          <p:cNvSpPr>
            <a:spLocks noGrp="1"/>
          </p:cNvSpPr>
          <p:nvPr>
            <p:ph type="body" sz="half" idx="2"/>
          </p:nvPr>
        </p:nvSpPr>
        <p:spPr>
          <a:xfrm>
            <a:off x="2589212" y="2667699"/>
            <a:ext cx="3505199" cy="3193350"/>
          </a:xfrm>
        </p:spPr>
        <p:txBody>
          <a:bodyPr/>
          <a:lstStyle/>
          <a:p>
            <a:r>
              <a:rPr lang="en-CA" dirty="0"/>
              <a:t>GStreamer is an extremely powerful and versatile framework for creating streaming media applications.</a:t>
            </a:r>
          </a:p>
          <a:p>
            <a:r>
              <a:rPr lang="en-CA" dirty="0"/>
              <a:t>GStreamer can seamlessly incorporate new plugin modules. But because modularity and power often come at a cost of greater complexity, writing new applications is not always easy.</a:t>
            </a:r>
          </a:p>
        </p:txBody>
      </p:sp>
    </p:spTree>
    <p:extLst>
      <p:ext uri="{BB962C8B-B14F-4D97-AF65-F5344CB8AC3E}">
        <p14:creationId xmlns:p14="http://schemas.microsoft.com/office/powerpoint/2010/main" val="24921409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GStreamer Features</a:t>
            </a:r>
          </a:p>
        </p:txBody>
      </p:sp>
      <p:sp>
        <p:nvSpPr>
          <p:cNvPr id="3" name="Content Placeholder 2"/>
          <p:cNvSpPr>
            <a:spLocks noGrp="1"/>
          </p:cNvSpPr>
          <p:nvPr>
            <p:ph idx="1"/>
          </p:nvPr>
        </p:nvSpPr>
        <p:spPr/>
        <p:txBody>
          <a:bodyPr/>
          <a:lstStyle/>
          <a:p>
            <a:r>
              <a:rPr lang="en-CA" dirty="0">
                <a:hlinkClick r:id="rId2"/>
              </a:rPr>
              <a:t>Open source multimedia framework</a:t>
            </a:r>
            <a:endParaRPr lang="en-CA" dirty="0"/>
          </a:p>
          <a:p>
            <a:r>
              <a:rPr lang="en-CA" dirty="0"/>
              <a:t>Cross platform</a:t>
            </a:r>
          </a:p>
          <a:p>
            <a:r>
              <a:rPr lang="en-CA" dirty="0"/>
              <a:t>Based on </a:t>
            </a:r>
            <a:r>
              <a:rPr lang="en-CA" dirty="0" err="1">
                <a:hlinkClick r:id="rId3"/>
              </a:rPr>
              <a:t>GLib</a:t>
            </a:r>
            <a:r>
              <a:rPr lang="en-CA" dirty="0">
                <a:hlinkClick r:id="rId3"/>
              </a:rPr>
              <a:t> 2.0 object model</a:t>
            </a:r>
            <a:r>
              <a:rPr lang="en-CA" dirty="0"/>
              <a:t> for object-oriented design and inheritance</a:t>
            </a:r>
          </a:p>
          <a:p>
            <a:pPr lvl="1"/>
            <a:r>
              <a:rPr lang="en-CA" dirty="0"/>
              <a:t>Written in C</a:t>
            </a:r>
          </a:p>
          <a:p>
            <a:r>
              <a:rPr lang="en-US" dirty="0"/>
              <a:t>Can be used for any type of streaming data such as scientific signal processing ( for example, </a:t>
            </a:r>
            <a:r>
              <a:rPr lang="en-US" u="sng" dirty="0">
                <a:hlinkClick r:id="rId4"/>
              </a:rPr>
              <a:t>Gravitational Waves</a:t>
            </a:r>
            <a:r>
              <a:rPr lang="en-US" dirty="0">
                <a:hlinkClick r:id="rId4"/>
              </a:rPr>
              <a:t> </a:t>
            </a:r>
            <a:r>
              <a:rPr lang="en-US" dirty="0"/>
              <a:t>)</a:t>
            </a:r>
          </a:p>
          <a:p>
            <a:r>
              <a:rPr lang="en-US" dirty="0"/>
              <a:t>do not need to do anything special to enable hardware acceleration (</a:t>
            </a:r>
            <a:r>
              <a:rPr lang="en-US" dirty="0">
                <a:hlinkClick r:id="rId5"/>
              </a:rPr>
              <a:t>source</a:t>
            </a:r>
            <a:r>
              <a:rPr lang="en-US" dirty="0"/>
              <a:t>)</a:t>
            </a:r>
          </a:p>
          <a:p>
            <a:endParaRPr lang="en-CA" dirty="0"/>
          </a:p>
          <a:p>
            <a:endParaRPr lang="en-CA" dirty="0"/>
          </a:p>
        </p:txBody>
      </p:sp>
    </p:spTree>
    <p:extLst>
      <p:ext uri="{BB962C8B-B14F-4D97-AF65-F5344CB8AC3E}">
        <p14:creationId xmlns:p14="http://schemas.microsoft.com/office/powerpoint/2010/main" val="23199526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32860-6965-45AC-9A0A-B2944E9E5682}"/>
              </a:ext>
            </a:extLst>
          </p:cNvPr>
          <p:cNvSpPr>
            <a:spLocks noGrp="1"/>
          </p:cNvSpPr>
          <p:nvPr>
            <p:ph type="title"/>
          </p:nvPr>
        </p:nvSpPr>
        <p:spPr/>
        <p:txBody>
          <a:bodyPr/>
          <a:lstStyle/>
          <a:p>
            <a:r>
              <a:rPr lang="en-US" dirty="0" err="1"/>
              <a:t>Gtype</a:t>
            </a:r>
            <a:r>
              <a:rPr lang="en-US" dirty="0"/>
              <a:t>/GObject</a:t>
            </a:r>
          </a:p>
        </p:txBody>
      </p:sp>
      <p:sp>
        <p:nvSpPr>
          <p:cNvPr id="3" name="Content Placeholder 2">
            <a:extLst>
              <a:ext uri="{FF2B5EF4-FFF2-40B4-BE49-F238E27FC236}">
                <a16:creationId xmlns:a16="http://schemas.microsoft.com/office/drawing/2014/main" id="{72CE1781-01B9-4FEB-A001-581E70747552}"/>
              </a:ext>
            </a:extLst>
          </p:cNvPr>
          <p:cNvSpPr>
            <a:spLocks noGrp="1"/>
          </p:cNvSpPr>
          <p:nvPr>
            <p:ph idx="1"/>
          </p:nvPr>
        </p:nvSpPr>
        <p:spPr/>
        <p:txBody>
          <a:bodyPr/>
          <a:lstStyle/>
          <a:p>
            <a:r>
              <a:rPr lang="en-US" dirty="0"/>
              <a:t>C programmers are likely to be puzzled at the complexity of the features exposed in the following chapters if they forget that the </a:t>
            </a:r>
            <a:r>
              <a:rPr lang="en-US" dirty="0" err="1"/>
              <a:t>GType</a:t>
            </a:r>
            <a:r>
              <a:rPr lang="en-US" dirty="0"/>
              <a:t>/GObject library was not only designed to offer OO-like features to C programmers but also transparent cross-language interoperability. (</a:t>
            </a:r>
            <a:r>
              <a:rPr lang="en-US" dirty="0">
                <a:hlinkClick r:id="rId2"/>
              </a:rPr>
              <a:t>source</a:t>
            </a:r>
            <a:r>
              <a:rPr lang="en-US" dirty="0"/>
              <a:t>)</a:t>
            </a:r>
          </a:p>
          <a:p>
            <a:r>
              <a:rPr lang="en-US" dirty="0">
                <a:hlinkClick r:id="rId3"/>
              </a:rPr>
              <a:t>GObject </a:t>
            </a:r>
            <a:r>
              <a:rPr lang="en-US" dirty="0" err="1">
                <a:hlinkClick r:id="rId3"/>
              </a:rPr>
              <a:t>wikipedia</a:t>
            </a:r>
            <a:r>
              <a:rPr lang="en-US" dirty="0">
                <a:hlinkClick r:id="rId3"/>
              </a:rPr>
              <a:t> entry</a:t>
            </a:r>
            <a:endParaRPr lang="en-US" dirty="0"/>
          </a:p>
        </p:txBody>
      </p:sp>
    </p:spTree>
    <p:extLst>
      <p:ext uri="{BB962C8B-B14F-4D97-AF65-F5344CB8AC3E}">
        <p14:creationId xmlns:p14="http://schemas.microsoft.com/office/powerpoint/2010/main" val="4821973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Pads</a:t>
            </a:r>
          </a:p>
        </p:txBody>
      </p:sp>
      <p:sp>
        <p:nvSpPr>
          <p:cNvPr id="3" name="Content Placeholder 2"/>
          <p:cNvSpPr>
            <a:spLocks noGrp="1"/>
          </p:cNvSpPr>
          <p:nvPr>
            <p:ph idx="1"/>
          </p:nvPr>
        </p:nvSpPr>
        <p:spPr/>
        <p:txBody>
          <a:bodyPr/>
          <a:lstStyle/>
          <a:p>
            <a:r>
              <a:rPr lang="en-CA" dirty="0"/>
              <a:t>The ports through which GStreamer elements communicate with each other are called pads (GstPad). There exists sink pads, through which data enters an element, and source pads, through which data exits an element (</a:t>
            </a:r>
            <a:r>
              <a:rPr lang="en-CA" dirty="0">
                <a:hlinkClick r:id="rId2"/>
              </a:rPr>
              <a:t>quote source</a:t>
            </a:r>
            <a:r>
              <a:rPr lang="en-CA" dirty="0"/>
              <a:t>).</a:t>
            </a:r>
          </a:p>
          <a:p>
            <a:endParaRPr lang="en-CA" dirty="0"/>
          </a:p>
          <a:p>
            <a:endParaRPr lang="en-CA"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97217" y="3720261"/>
            <a:ext cx="1800225" cy="1266825"/>
          </a:xfrm>
          <a:prstGeom prst="rect">
            <a:avLst/>
          </a:prstGeom>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84863" y="3720261"/>
            <a:ext cx="1781175" cy="1190625"/>
          </a:xfrm>
          <a:prstGeom prst="rect">
            <a:avLst/>
          </a:prstGeom>
        </p:spPr>
      </p:pic>
      <p:pic>
        <p:nvPicPr>
          <p:cNvPr id="7"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70953" y="3691686"/>
            <a:ext cx="1733550" cy="1219200"/>
          </a:xfrm>
          <a:prstGeom prst="rect">
            <a:avLst/>
          </a:prstGeom>
        </p:spPr>
      </p:pic>
    </p:spTree>
    <p:extLst>
      <p:ext uri="{BB962C8B-B14F-4D97-AF65-F5344CB8AC3E}">
        <p14:creationId xmlns:p14="http://schemas.microsoft.com/office/powerpoint/2010/main" val="6065015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NDI Track Data</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81026" y="2650733"/>
            <a:ext cx="9882883" cy="2624765"/>
          </a:xfrm>
        </p:spPr>
      </p:pic>
      <p:sp>
        <p:nvSpPr>
          <p:cNvPr id="3" name="TextBox 2">
            <a:extLst>
              <a:ext uri="{FF2B5EF4-FFF2-40B4-BE49-F238E27FC236}">
                <a16:creationId xmlns:a16="http://schemas.microsoft.com/office/drawing/2014/main" id="{A5ED48F9-9522-46BF-BFCF-22EA69656FC6}"/>
              </a:ext>
            </a:extLst>
          </p:cNvPr>
          <p:cNvSpPr txBox="1"/>
          <p:nvPr/>
        </p:nvSpPr>
        <p:spPr>
          <a:xfrm>
            <a:off x="1881026" y="5650787"/>
            <a:ext cx="9882883" cy="461665"/>
          </a:xfrm>
          <a:prstGeom prst="rect">
            <a:avLst/>
          </a:prstGeom>
          <a:noFill/>
        </p:spPr>
        <p:txBody>
          <a:bodyPr wrap="square" rtlCol="0">
            <a:spAutoFit/>
          </a:bodyPr>
          <a:lstStyle/>
          <a:p>
            <a:r>
              <a:rPr lang="en-US" sz="1200" dirty="0">
                <a:latin typeface="Consolas" panose="020B0609020204030204" pitchFamily="49" charset="0"/>
              </a:rPr>
              <a:t>gst-launch-1.0 tracksrc connect-to=P9-00311.local rtsp-port=554 tool-location=C:/work/Tools/ tool-file=8700339.rom name=</a:t>
            </a:r>
            <a:r>
              <a:rPr lang="en-US" sz="1200" dirty="0" err="1">
                <a:latin typeface="Consolas" panose="020B0609020204030204" pitchFamily="49" charset="0"/>
              </a:rPr>
              <a:t>tracksource</a:t>
            </a:r>
            <a:r>
              <a:rPr lang="en-US" sz="1200" dirty="0">
                <a:latin typeface="Consolas" panose="020B0609020204030204" pitchFamily="49" charset="0"/>
              </a:rPr>
              <a:t> ! queue ! fakesink</a:t>
            </a:r>
          </a:p>
        </p:txBody>
      </p:sp>
    </p:spTree>
    <p:extLst>
      <p:ext uri="{BB962C8B-B14F-4D97-AF65-F5344CB8AC3E}">
        <p14:creationId xmlns:p14="http://schemas.microsoft.com/office/powerpoint/2010/main" val="562537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err="1"/>
              <a:t>CAPISample</a:t>
            </a:r>
            <a:endParaRPr lang="en-CA" dirty="0"/>
          </a:p>
        </p:txBody>
      </p:sp>
      <p:sp>
        <p:nvSpPr>
          <p:cNvPr id="3" name="Content Placeholder 2"/>
          <p:cNvSpPr>
            <a:spLocks noGrp="1"/>
          </p:cNvSpPr>
          <p:nvPr>
            <p:ph idx="1"/>
          </p:nvPr>
        </p:nvSpPr>
        <p:spPr>
          <a:xfrm>
            <a:off x="2589212" y="1721709"/>
            <a:ext cx="8915400" cy="4646140"/>
          </a:xfrm>
        </p:spPr>
        <p:txBody>
          <a:bodyPr>
            <a:normAutofit/>
          </a:bodyPr>
          <a:lstStyle/>
          <a:p>
            <a:r>
              <a:rPr lang="en-CA" b="1" dirty="0"/>
              <a:t>Existing</a:t>
            </a:r>
          </a:p>
          <a:p>
            <a:pPr lvl="1"/>
            <a:r>
              <a:rPr lang="en-CA" dirty="0"/>
              <a:t>library</a:t>
            </a:r>
          </a:p>
          <a:p>
            <a:pPr lvl="1"/>
            <a:r>
              <a:rPr lang="en-CA" dirty="0"/>
              <a:t>sample</a:t>
            </a:r>
          </a:p>
          <a:p>
            <a:r>
              <a:rPr lang="en-CA" b="1" dirty="0"/>
              <a:t>New</a:t>
            </a:r>
          </a:p>
          <a:p>
            <a:pPr lvl="1"/>
            <a:r>
              <a:rPr lang="en-CA" dirty="0" err="1"/>
              <a:t>ndielems</a:t>
            </a:r>
            <a:endParaRPr lang="en-CA" dirty="0"/>
          </a:p>
          <a:p>
            <a:pPr lvl="2"/>
            <a:r>
              <a:rPr lang="en-CA" dirty="0"/>
              <a:t>tracksrc</a:t>
            </a:r>
          </a:p>
          <a:p>
            <a:pPr lvl="2"/>
            <a:r>
              <a:rPr lang="en-CA" dirty="0"/>
              <a:t>trackoverlay</a:t>
            </a:r>
          </a:p>
          <a:p>
            <a:pPr lvl="2"/>
            <a:r>
              <a:rPr lang="en-CA" dirty="0"/>
              <a:t>trackbin</a:t>
            </a:r>
          </a:p>
          <a:p>
            <a:pPr lvl="1"/>
            <a:r>
              <a:rPr lang="en-CA" dirty="0" err="1"/>
              <a:t>vrdemo</a:t>
            </a:r>
            <a:endParaRPr lang="en-CA" dirty="0"/>
          </a:p>
          <a:p>
            <a:pPr lvl="1"/>
            <a:r>
              <a:rPr lang="en-CA" dirty="0" err="1"/>
              <a:t>capitogst</a:t>
            </a:r>
            <a:endParaRPr lang="en-CA" dirty="0"/>
          </a:p>
          <a:p>
            <a:endParaRPr lang="en-CA" dirty="0"/>
          </a:p>
          <a:p>
            <a:endParaRPr lang="en-CA" dirty="0"/>
          </a:p>
        </p:txBody>
      </p:sp>
    </p:spTree>
    <p:extLst>
      <p:ext uri="{BB962C8B-B14F-4D97-AF65-F5344CB8AC3E}">
        <p14:creationId xmlns:p14="http://schemas.microsoft.com/office/powerpoint/2010/main" val="36443390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NDI Elements</a:t>
            </a:r>
          </a:p>
        </p:txBody>
      </p:sp>
      <p:sp>
        <p:nvSpPr>
          <p:cNvPr id="3" name="Content Placeholder 2"/>
          <p:cNvSpPr>
            <a:spLocks noGrp="1"/>
          </p:cNvSpPr>
          <p:nvPr>
            <p:ph idx="1"/>
          </p:nvPr>
        </p:nvSpPr>
        <p:spPr/>
        <p:txBody>
          <a:bodyPr/>
          <a:lstStyle/>
          <a:p>
            <a:r>
              <a:rPr lang="en-CA" dirty="0">
                <a:latin typeface="Courier New" panose="02070309020205020404" pitchFamily="49" charset="0"/>
                <a:cs typeface="Courier New" panose="02070309020205020404" pitchFamily="49" charset="0"/>
              </a:rPr>
              <a:t>gst-inspect-1.0 C:\gstreamer\1.0\x86_64\lib\gstreamer-1.0\ndielems.dll</a:t>
            </a:r>
          </a:p>
          <a:p>
            <a:r>
              <a:rPr lang="en-CA" dirty="0" err="1">
                <a:latin typeface="Century Gothic (Body)"/>
                <a:cs typeface="Courier New" panose="02070309020205020404" pitchFamily="49" charset="0"/>
                <a:hlinkClick r:id="rId2" action="ppaction://hlinkfile"/>
              </a:rPr>
              <a:t>ndi</a:t>
            </a:r>
            <a:r>
              <a:rPr lang="en-CA" dirty="0">
                <a:latin typeface="Century Gothic (Body)"/>
                <a:cs typeface="Courier New" panose="02070309020205020404" pitchFamily="49" charset="0"/>
                <a:hlinkClick r:id="rId2" action="ppaction://hlinkfile"/>
              </a:rPr>
              <a:t> </a:t>
            </a:r>
            <a:r>
              <a:rPr lang="en-CA" dirty="0" err="1">
                <a:latin typeface="Century Gothic (Body)"/>
                <a:cs typeface="Courier New" panose="02070309020205020404" pitchFamily="49" charset="0"/>
                <a:hlinkClick r:id="rId2" action="ppaction://hlinkfile"/>
              </a:rPr>
              <a:t>elems</a:t>
            </a:r>
            <a:endParaRPr lang="en-CA" dirty="0">
              <a:latin typeface="Century Gothic (Body)"/>
              <a:cs typeface="Courier New" panose="02070309020205020404" pitchFamily="49" charset="0"/>
            </a:endParaRPr>
          </a:p>
          <a:p>
            <a:r>
              <a:rPr lang="en-CA" dirty="0">
                <a:latin typeface="Courier New" panose="02070309020205020404" pitchFamily="49" charset="0"/>
                <a:cs typeface="Courier New" panose="02070309020205020404" pitchFamily="49" charset="0"/>
              </a:rPr>
              <a:t>gst-inspect-1.0 tracksrc</a:t>
            </a:r>
          </a:p>
          <a:p>
            <a:r>
              <a:rPr lang="en-CA" dirty="0">
                <a:hlinkClick r:id="rId3" action="ppaction://hlinkfile"/>
              </a:rPr>
              <a:t>tracksrc element details</a:t>
            </a:r>
            <a:endParaRPr lang="en-CA" dirty="0"/>
          </a:p>
          <a:p>
            <a:r>
              <a:rPr lang="en-CA" dirty="0">
                <a:hlinkClick r:id="rId4" action="ppaction://hlinkfile"/>
              </a:rPr>
              <a:t>trackoverlay element details</a:t>
            </a:r>
            <a:endParaRPr lang="en-CA" dirty="0"/>
          </a:p>
          <a:p>
            <a:r>
              <a:rPr lang="en-CA" dirty="0">
                <a:hlinkClick r:id="rId5" action="ppaction://hlinkfile"/>
              </a:rPr>
              <a:t>trackbin element details</a:t>
            </a:r>
            <a:endParaRPr lang="en-CA" dirty="0"/>
          </a:p>
          <a:p>
            <a:endParaRPr lang="en-CA" dirty="0"/>
          </a:p>
        </p:txBody>
      </p:sp>
    </p:spTree>
    <p:extLst>
      <p:ext uri="{BB962C8B-B14F-4D97-AF65-F5344CB8AC3E}">
        <p14:creationId xmlns:p14="http://schemas.microsoft.com/office/powerpoint/2010/main" val="33663085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20000"/>
              </a:schemeClr>
            </a:gs>
            <a:gs pos="100000">
              <a:schemeClr val="bg2">
                <a:shade val="98000"/>
                <a:satMod val="120000"/>
                <a:lumMod val="98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A757E-5D84-40CE-89A0-E643357F8811}"/>
              </a:ext>
            </a:extLst>
          </p:cNvPr>
          <p:cNvSpPr>
            <a:spLocks noGrp="1"/>
          </p:cNvSpPr>
          <p:nvPr>
            <p:ph type="title"/>
          </p:nvPr>
        </p:nvSpPr>
        <p:spPr>
          <a:xfrm>
            <a:off x="2592926" y="624110"/>
            <a:ext cx="4633466" cy="1280890"/>
          </a:xfrm>
        </p:spPr>
        <p:txBody>
          <a:bodyPr>
            <a:normAutofit/>
          </a:bodyPr>
          <a:lstStyle/>
          <a:p>
            <a:r>
              <a:rPr lang="en-US" dirty="0"/>
              <a:t>Register NDI Elements</a:t>
            </a:r>
          </a:p>
        </p:txBody>
      </p:sp>
      <p:sp>
        <p:nvSpPr>
          <p:cNvPr id="3" name="Content Placeholder 2">
            <a:extLst>
              <a:ext uri="{FF2B5EF4-FFF2-40B4-BE49-F238E27FC236}">
                <a16:creationId xmlns:a16="http://schemas.microsoft.com/office/drawing/2014/main" id="{F0B978B4-97BD-411A-A708-197F44766FD4}"/>
              </a:ext>
            </a:extLst>
          </p:cNvPr>
          <p:cNvSpPr>
            <a:spLocks noGrp="1"/>
          </p:cNvSpPr>
          <p:nvPr>
            <p:ph idx="1"/>
          </p:nvPr>
        </p:nvSpPr>
        <p:spPr>
          <a:xfrm>
            <a:off x="2589214" y="2040467"/>
            <a:ext cx="3506785" cy="3870755"/>
          </a:xfrm>
        </p:spPr>
        <p:txBody>
          <a:bodyPr>
            <a:normAutofit/>
          </a:bodyPr>
          <a:lstStyle/>
          <a:p>
            <a:pPr>
              <a:buClr>
                <a:srgbClr val="FFB446"/>
              </a:buClr>
            </a:pPr>
            <a:r>
              <a:rPr lang="en-US" dirty="0" err="1"/>
              <a:t>ndielement.c</a:t>
            </a:r>
            <a:endParaRPr lang="en-US" dirty="0"/>
          </a:p>
          <a:p>
            <a:pPr>
              <a:buClr>
                <a:srgbClr val="FFB446"/>
              </a:buClr>
            </a:pPr>
            <a:r>
              <a:rPr lang="en-US" dirty="0"/>
              <a:t>Place ndielems.dll into plugin directory</a:t>
            </a:r>
          </a:p>
          <a:p>
            <a:pPr>
              <a:buClr>
                <a:srgbClr val="FFB446"/>
              </a:buClr>
            </a:pPr>
            <a:r>
              <a:rPr lang="en-US" sz="1050" dirty="0">
                <a:solidFill>
                  <a:srgbClr val="000000"/>
                </a:solidFill>
                <a:latin typeface="Courier New" panose="02070309020205020404" pitchFamily="49" charset="0"/>
                <a:cs typeface="Courier New" panose="02070309020205020404" pitchFamily="49" charset="0"/>
              </a:rPr>
              <a:t>C:\gstreamer\1.0\x86_64\lib\gstreamer-1.0</a:t>
            </a:r>
          </a:p>
          <a:p>
            <a:pPr>
              <a:buClr>
                <a:srgbClr val="FFB446"/>
              </a:buClr>
            </a:pPr>
            <a:endParaRPr lang="en-US" dirty="0"/>
          </a:p>
        </p:txBody>
      </p:sp>
      <p:pic>
        <p:nvPicPr>
          <p:cNvPr id="5" name="Picture 4">
            <a:extLst>
              <a:ext uri="{FF2B5EF4-FFF2-40B4-BE49-F238E27FC236}">
                <a16:creationId xmlns:a16="http://schemas.microsoft.com/office/drawing/2014/main" id="{C0B6F5FC-15E7-45A2-88E3-C84C985E83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4298" y="645106"/>
            <a:ext cx="5456204" cy="4073040"/>
          </a:xfrm>
          <a:prstGeom prst="rect">
            <a:avLst/>
          </a:prstGeom>
          <a:solidFill>
            <a:srgbClr val="FFFFFF"/>
          </a:solidFill>
          <a:scene3d>
            <a:camera prst="orthographicFront"/>
            <a:lightRig rig="threePt" dir="t">
              <a:rot lat="0" lon="0" rev="2700000"/>
            </a:lightRig>
          </a:scene3d>
          <a:sp3d>
            <a:bevelT h="38100"/>
            <a:contourClr>
              <a:srgbClr val="C0C0C0"/>
            </a:contourClr>
          </a:sp3d>
        </p:spPr>
      </p:pic>
      <p:pic>
        <p:nvPicPr>
          <p:cNvPr id="7" name="Picture 6">
            <a:extLst>
              <a:ext uri="{FF2B5EF4-FFF2-40B4-BE49-F238E27FC236}">
                <a16:creationId xmlns:a16="http://schemas.microsoft.com/office/drawing/2014/main" id="{9A113A99-2E92-47C5-918F-602A2ED5D1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4298" y="5055016"/>
            <a:ext cx="5456204" cy="1123336"/>
          </a:xfrm>
          <a:prstGeom prst="rect">
            <a:avLst/>
          </a:prstGeom>
          <a:solidFill>
            <a:srgbClr val="FFFFFF"/>
          </a:solidFill>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42598196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3414068" y="0"/>
            <a:ext cx="5363863" cy="6858000"/>
          </a:xfrm>
          <a:prstGeom prst="rect">
            <a:avLst/>
          </a:prstGeom>
        </p:spPr>
      </p:pic>
      <p:sp>
        <p:nvSpPr>
          <p:cNvPr id="4" name="TextBox 3"/>
          <p:cNvSpPr txBox="1"/>
          <p:nvPr/>
        </p:nvSpPr>
        <p:spPr>
          <a:xfrm>
            <a:off x="5678184" y="2383605"/>
            <a:ext cx="3099748" cy="707886"/>
          </a:xfrm>
          <a:prstGeom prst="rect">
            <a:avLst/>
          </a:prstGeom>
          <a:solidFill>
            <a:schemeClr val="bg2"/>
          </a:solidFill>
        </p:spPr>
        <p:txBody>
          <a:bodyPr wrap="square" rtlCol="0">
            <a:spAutoFit/>
          </a:bodyPr>
          <a:lstStyle/>
          <a:p>
            <a:r>
              <a:rPr lang="en-CA" sz="2000" dirty="0"/>
              <a:t>Part of </a:t>
            </a:r>
            <a:r>
              <a:rPr lang="en-CA" sz="2000" dirty="0" err="1"/>
              <a:t>tracksrc.h</a:t>
            </a:r>
            <a:r>
              <a:rPr lang="en-CA" sz="2000" dirty="0"/>
              <a:t> shows template code</a:t>
            </a:r>
          </a:p>
        </p:txBody>
      </p:sp>
    </p:spTree>
    <p:extLst>
      <p:ext uri="{BB962C8B-B14F-4D97-AF65-F5344CB8AC3E}">
        <p14:creationId xmlns:p14="http://schemas.microsoft.com/office/powerpoint/2010/main" val="16379413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3119919" y="2102923"/>
            <a:ext cx="6096000" cy="4316566"/>
          </a:xfrm>
          <a:prstGeom prst="rect">
            <a:avLst/>
          </a:prstGeom>
        </p:spPr>
        <p:txBody>
          <a:bodyPr>
            <a:spAutoFit/>
          </a:bodyPr>
          <a:lstStyle/>
          <a:p>
            <a:pPr>
              <a:lnSpc>
                <a:spcPct val="107000"/>
              </a:lnSpc>
              <a:spcAft>
                <a:spcPts val="0"/>
              </a:spcAft>
            </a:pPr>
            <a:r>
              <a:rPr lang="en-CA" sz="950" dirty="0">
                <a:solidFill>
                  <a:srgbClr val="808080"/>
                </a:solidFill>
                <a:latin typeface="Consolas" panose="020B0609020204030204" pitchFamily="49" charset="0"/>
                <a:ea typeface="Calibri" panose="020F0502020204030204" pitchFamily="34" charset="0"/>
                <a:cs typeface="Consolas" panose="020B0609020204030204" pitchFamily="49" charset="0"/>
              </a:rPr>
              <a:t>#define</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gst_track_src_parent_class</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parent_class</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G_DEFINE_TYPE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GstTrackSrc</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gst_track_src</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GST_TYPE_PUSH_SRC);</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FF"/>
                </a:solidFill>
                <a:latin typeface="Consolas" panose="020B0609020204030204" pitchFamily="49" charset="0"/>
                <a:ea typeface="Calibri" panose="020F0502020204030204" pitchFamily="34" charset="0"/>
                <a:cs typeface="Consolas" panose="020B0609020204030204" pitchFamily="49" charset="0"/>
              </a:rPr>
              <a:t>static</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GstStaticPadTemplate</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sink_klv_factory</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 GST_STATIC_PAD_TEMPLATE (</a:t>
            </a:r>
            <a:r>
              <a:rPr lang="en-CA" sz="950" dirty="0">
                <a:solidFill>
                  <a:srgbClr val="A31515"/>
                </a:solidFill>
                <a:latin typeface="Consolas" panose="020B0609020204030204" pitchFamily="49" charset="0"/>
                <a:ea typeface="Calibri" panose="020F0502020204030204" pitchFamily="34" charset="0"/>
                <a:cs typeface="Consolas" panose="020B0609020204030204" pitchFamily="49" charset="0"/>
              </a:rPr>
              <a:t>"</a:t>
            </a:r>
            <a:r>
              <a:rPr lang="en-CA" sz="950" dirty="0" err="1">
                <a:solidFill>
                  <a:srgbClr val="A31515"/>
                </a:solidFill>
                <a:latin typeface="Consolas" panose="020B0609020204030204" pitchFamily="49" charset="0"/>
                <a:ea typeface="Calibri" panose="020F0502020204030204" pitchFamily="34" charset="0"/>
                <a:cs typeface="Consolas" panose="020B0609020204030204" pitchFamily="49" charset="0"/>
              </a:rPr>
              <a:t>klvsink</a:t>
            </a:r>
            <a:r>
              <a:rPr lang="en-CA" sz="950" dirty="0">
                <a:solidFill>
                  <a:srgbClr val="A31515"/>
                </a:solidFill>
                <a:latin typeface="Consolas" panose="020B0609020204030204" pitchFamily="49" charset="0"/>
                <a:ea typeface="Calibri" panose="020F0502020204030204" pitchFamily="34" charset="0"/>
                <a:cs typeface="Consolas" panose="020B0609020204030204" pitchFamily="49" charset="0"/>
              </a:rPr>
              <a:t>"</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GST_PAD_SINK,</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GST_PAD_SOMETIMES,</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GST_STATIC_CAPS (</a:t>
            </a:r>
            <a:r>
              <a:rPr lang="en-CA" sz="950" dirty="0">
                <a:solidFill>
                  <a:srgbClr val="A31515"/>
                </a:solidFill>
                <a:latin typeface="Consolas" panose="020B0609020204030204" pitchFamily="49" charset="0"/>
                <a:ea typeface="Calibri" panose="020F0502020204030204" pitchFamily="34" charset="0"/>
                <a:cs typeface="Consolas" panose="020B0609020204030204" pitchFamily="49" charset="0"/>
              </a:rPr>
              <a:t>"meta/x-</a:t>
            </a:r>
            <a:r>
              <a:rPr lang="en-CA" sz="950" dirty="0" err="1">
                <a:solidFill>
                  <a:srgbClr val="A31515"/>
                </a:solidFill>
                <a:latin typeface="Consolas" panose="020B0609020204030204" pitchFamily="49" charset="0"/>
                <a:ea typeface="Calibri" panose="020F0502020204030204" pitchFamily="34" charset="0"/>
                <a:cs typeface="Consolas" panose="020B0609020204030204" pitchFamily="49" charset="0"/>
              </a:rPr>
              <a:t>klv</a:t>
            </a:r>
            <a:r>
              <a:rPr lang="en-CA" sz="950" dirty="0">
                <a:solidFill>
                  <a:srgbClr val="A31515"/>
                </a:solidFill>
                <a:latin typeface="Consolas" panose="020B0609020204030204" pitchFamily="49" charset="0"/>
                <a:ea typeface="Calibri" panose="020F0502020204030204" pitchFamily="34" charset="0"/>
                <a:cs typeface="Consolas" panose="020B0609020204030204" pitchFamily="49" charset="0"/>
              </a:rPr>
              <a:t>, parsed = (bool) true"</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FF"/>
                </a:solidFill>
                <a:latin typeface="Consolas" panose="020B0609020204030204" pitchFamily="49" charset="0"/>
                <a:ea typeface="Calibri" panose="020F0502020204030204" pitchFamily="34" charset="0"/>
                <a:cs typeface="Consolas" panose="020B0609020204030204" pitchFamily="49" charset="0"/>
              </a:rPr>
              <a:t>static</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GstStaticPadTemplate</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gst_track_src_src_template</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GST_STATIC_PAD_TEMPLATE (</a:t>
            </a:r>
            <a:r>
              <a:rPr lang="en-CA" sz="950" dirty="0">
                <a:solidFill>
                  <a:srgbClr val="A31515"/>
                </a:solidFill>
                <a:latin typeface="Consolas" panose="020B0609020204030204" pitchFamily="49" charset="0"/>
                <a:ea typeface="Calibri" panose="020F0502020204030204" pitchFamily="34" charset="0"/>
                <a:cs typeface="Consolas" panose="020B0609020204030204" pitchFamily="49" charset="0"/>
              </a:rPr>
              <a:t>"</a:t>
            </a:r>
            <a:r>
              <a:rPr lang="en-CA" sz="950" dirty="0" err="1">
                <a:solidFill>
                  <a:srgbClr val="A31515"/>
                </a:solidFill>
                <a:latin typeface="Consolas" panose="020B0609020204030204" pitchFamily="49" charset="0"/>
                <a:ea typeface="Calibri" panose="020F0502020204030204" pitchFamily="34" charset="0"/>
                <a:cs typeface="Consolas" panose="020B0609020204030204" pitchFamily="49" charset="0"/>
              </a:rPr>
              <a:t>src</a:t>
            </a:r>
            <a:r>
              <a:rPr lang="en-CA" sz="950" dirty="0">
                <a:solidFill>
                  <a:srgbClr val="A31515"/>
                </a:solidFill>
                <a:latin typeface="Consolas" panose="020B0609020204030204" pitchFamily="49" charset="0"/>
                <a:ea typeface="Calibri" panose="020F0502020204030204" pitchFamily="34" charset="0"/>
                <a:cs typeface="Consolas" panose="020B0609020204030204" pitchFamily="49" charset="0"/>
              </a:rPr>
              <a:t>"</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GST_PAD_SRC,</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GST_PAD_ALWAYS,</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GST_STATIC_CAPS (</a:t>
            </a:r>
            <a:r>
              <a:rPr lang="en-CA" sz="950" dirty="0">
                <a:solidFill>
                  <a:srgbClr val="A31515"/>
                </a:solidFill>
                <a:latin typeface="Consolas" panose="020B0609020204030204" pitchFamily="49" charset="0"/>
                <a:ea typeface="Calibri" panose="020F0502020204030204" pitchFamily="34" charset="0"/>
                <a:cs typeface="Consolas" panose="020B0609020204030204" pitchFamily="49" charset="0"/>
              </a:rPr>
              <a:t>"</a:t>
            </a:r>
            <a:r>
              <a:rPr lang="en-CA" sz="950" dirty="0" err="1">
                <a:solidFill>
                  <a:srgbClr val="A31515"/>
                </a:solidFill>
                <a:latin typeface="Consolas" panose="020B0609020204030204" pitchFamily="49" charset="0"/>
                <a:ea typeface="Calibri" panose="020F0502020204030204" pitchFamily="34" charset="0"/>
                <a:cs typeface="Consolas" panose="020B0609020204030204" pitchFamily="49" charset="0"/>
              </a:rPr>
              <a:t>trackdata</a:t>
            </a:r>
            <a:r>
              <a:rPr lang="en-CA" sz="950" dirty="0">
                <a:solidFill>
                  <a:srgbClr val="A31515"/>
                </a:solidFill>
                <a:latin typeface="Consolas" panose="020B0609020204030204" pitchFamily="49" charset="0"/>
                <a:ea typeface="Calibri" panose="020F0502020204030204" pitchFamily="34" charset="0"/>
                <a:cs typeface="Consolas" panose="020B0609020204030204" pitchFamily="49" charset="0"/>
              </a:rPr>
              <a:t>"</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FF"/>
                </a:solidFill>
                <a:latin typeface="Consolas" panose="020B0609020204030204" pitchFamily="49" charset="0"/>
                <a:ea typeface="Calibri" panose="020F0502020204030204" pitchFamily="34" charset="0"/>
                <a:cs typeface="Consolas" panose="020B0609020204030204" pitchFamily="49" charset="0"/>
              </a:rPr>
              <a:t>static</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gboolean</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gst_ndi_klv_sink_event</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(GstPad * pad,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GstObject</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 parent,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GstEvent</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 </a:t>
            </a:r>
            <a:r>
              <a:rPr lang="en-CA" sz="950" dirty="0">
                <a:solidFill>
                  <a:srgbClr val="0000FF"/>
                </a:solidFill>
                <a:latin typeface="Consolas" panose="020B0609020204030204" pitchFamily="49" charset="0"/>
                <a:ea typeface="Calibri" panose="020F0502020204030204" pitchFamily="34" charset="0"/>
                <a:cs typeface="Consolas" panose="020B0609020204030204" pitchFamily="49" charset="0"/>
              </a:rPr>
              <a:t>event</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FF"/>
                </a:solidFill>
                <a:latin typeface="Consolas" panose="020B0609020204030204" pitchFamily="49" charset="0"/>
                <a:ea typeface="Calibri" panose="020F0502020204030204" pitchFamily="34" charset="0"/>
                <a:cs typeface="Consolas" panose="020B0609020204030204" pitchFamily="49" charset="0"/>
              </a:rPr>
              <a:t>static</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GstFlowReturn</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gst_ndi_src_chain</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(GstPad * pad,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GstObject</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 parent,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GstBuffer</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buf</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FF"/>
                </a:solidFill>
                <a:latin typeface="Consolas" panose="020B0609020204030204" pitchFamily="49" charset="0"/>
                <a:ea typeface="Calibri" panose="020F0502020204030204" pitchFamily="34" charset="0"/>
                <a:cs typeface="Consolas" panose="020B0609020204030204" pitchFamily="49" charset="0"/>
              </a:rPr>
              <a:t>static</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a:solidFill>
                  <a:srgbClr val="0000FF"/>
                </a:solidFill>
                <a:latin typeface="Consolas" panose="020B0609020204030204" pitchFamily="49" charset="0"/>
                <a:ea typeface="Calibri" panose="020F0502020204030204" pitchFamily="34" charset="0"/>
                <a:cs typeface="Consolas" panose="020B0609020204030204" pitchFamily="49" charset="0"/>
              </a:rPr>
              <a:t>void</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gst_track_src_finalize</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GObject</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 object);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FF"/>
                </a:solidFill>
                <a:latin typeface="Consolas" panose="020B0609020204030204" pitchFamily="49" charset="0"/>
                <a:ea typeface="Calibri" panose="020F0502020204030204" pitchFamily="34" charset="0"/>
                <a:cs typeface="Consolas" panose="020B0609020204030204" pitchFamily="49" charset="0"/>
              </a:rPr>
              <a:t>static</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a:solidFill>
                  <a:srgbClr val="0000FF"/>
                </a:solidFill>
                <a:latin typeface="Consolas" panose="020B0609020204030204" pitchFamily="49" charset="0"/>
                <a:ea typeface="Calibri" panose="020F0502020204030204" pitchFamily="34" charset="0"/>
                <a:cs typeface="Consolas" panose="020B0609020204030204" pitchFamily="49" charset="0"/>
              </a:rPr>
              <a:t>void</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gst_track_src_set_property</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GObject</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 object,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guint</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prop_id</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FF"/>
                </a:solidFill>
                <a:latin typeface="Consolas" panose="020B0609020204030204" pitchFamily="49" charset="0"/>
                <a:ea typeface="Calibri" panose="020F0502020204030204" pitchFamily="34" charset="0"/>
                <a:cs typeface="Consolas" panose="020B0609020204030204" pitchFamily="49" charset="0"/>
              </a:rPr>
              <a:t>const</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GValue</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 value,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GParamSpec</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pspec</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FF"/>
                </a:solidFill>
                <a:latin typeface="Consolas" panose="020B0609020204030204" pitchFamily="49" charset="0"/>
                <a:ea typeface="Calibri" panose="020F0502020204030204" pitchFamily="34" charset="0"/>
                <a:cs typeface="Consolas" panose="020B0609020204030204" pitchFamily="49" charset="0"/>
              </a:rPr>
              <a:t>static</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a:solidFill>
                  <a:srgbClr val="0000FF"/>
                </a:solidFill>
                <a:latin typeface="Consolas" panose="020B0609020204030204" pitchFamily="49" charset="0"/>
                <a:ea typeface="Calibri" panose="020F0502020204030204" pitchFamily="34" charset="0"/>
                <a:cs typeface="Consolas" panose="020B0609020204030204" pitchFamily="49" charset="0"/>
              </a:rPr>
              <a:t>void</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gst_track_src_get_property</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GObject</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 object,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guint</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prop_id</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GValue</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 value,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GParamSpec</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pspec</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FF"/>
                </a:solidFill>
                <a:latin typeface="Consolas" panose="020B0609020204030204" pitchFamily="49" charset="0"/>
                <a:ea typeface="Calibri" panose="020F0502020204030204" pitchFamily="34" charset="0"/>
                <a:cs typeface="Consolas" panose="020B0609020204030204" pitchFamily="49" charset="0"/>
              </a:rPr>
              <a:t>static</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gboolean</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gst_track_src_start</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GstBaseSrc</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basesrc</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FF"/>
                </a:solidFill>
                <a:latin typeface="Consolas" panose="020B0609020204030204" pitchFamily="49" charset="0"/>
                <a:ea typeface="Calibri" panose="020F0502020204030204" pitchFamily="34" charset="0"/>
                <a:cs typeface="Consolas" panose="020B0609020204030204" pitchFamily="49" charset="0"/>
              </a:rPr>
              <a:t>static</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gboolean</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gst_track_src_stop</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GstBaseSrc</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basesrc</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FF"/>
                </a:solidFill>
                <a:latin typeface="Consolas" panose="020B0609020204030204" pitchFamily="49" charset="0"/>
                <a:ea typeface="Calibri" panose="020F0502020204030204" pitchFamily="34" charset="0"/>
                <a:cs typeface="Consolas" panose="020B0609020204030204" pitchFamily="49" charset="0"/>
              </a:rPr>
              <a:t>static</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GstFlowReturn</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gst_track_src_create</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GstPushSrc</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basesrc</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GstBuffer</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 buffer);</a:t>
            </a:r>
            <a:endParaRPr lang="en-CA"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p:cNvSpPr txBox="1"/>
          <p:nvPr/>
        </p:nvSpPr>
        <p:spPr>
          <a:xfrm>
            <a:off x="3119919" y="626724"/>
            <a:ext cx="5171326" cy="400110"/>
          </a:xfrm>
          <a:prstGeom prst="rect">
            <a:avLst/>
          </a:prstGeom>
          <a:solidFill>
            <a:schemeClr val="bg2"/>
          </a:solidFill>
        </p:spPr>
        <p:txBody>
          <a:bodyPr wrap="square" rtlCol="0">
            <a:spAutoFit/>
          </a:bodyPr>
          <a:lstStyle/>
          <a:p>
            <a:r>
              <a:rPr lang="en-CA" sz="2000" dirty="0"/>
              <a:t>tracksrc declarations (top of </a:t>
            </a:r>
            <a:r>
              <a:rPr lang="en-CA" sz="2000" dirty="0" err="1"/>
              <a:t>tracksrc.c</a:t>
            </a:r>
            <a:r>
              <a:rPr lang="en-CA" sz="2000" dirty="0"/>
              <a:t>)</a:t>
            </a:r>
          </a:p>
        </p:txBody>
      </p:sp>
    </p:spTree>
    <p:extLst>
      <p:ext uri="{BB962C8B-B14F-4D97-AF65-F5344CB8AC3E}">
        <p14:creationId xmlns:p14="http://schemas.microsoft.com/office/powerpoint/2010/main" val="28176881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119919" y="2033420"/>
            <a:ext cx="6096000" cy="3793346"/>
          </a:xfrm>
          <a:prstGeom prst="rect">
            <a:avLst/>
          </a:prstGeom>
        </p:spPr>
        <p:txBody>
          <a:bodyPr>
            <a:spAutoFit/>
          </a:bodyPr>
          <a:lstStyle/>
          <a:p>
            <a:pPr>
              <a:lnSpc>
                <a:spcPct val="107000"/>
              </a:lnSpc>
              <a:spcAft>
                <a:spcPts val="0"/>
              </a:spcAft>
            </a:pPr>
            <a:r>
              <a:rPr lang="en-CA" sz="950" dirty="0">
                <a:solidFill>
                  <a:srgbClr val="0000FF"/>
                </a:solidFill>
                <a:latin typeface="Consolas" panose="020B0609020204030204" pitchFamily="49" charset="0"/>
                <a:ea typeface="Calibri" panose="020F0502020204030204" pitchFamily="34" charset="0"/>
                <a:cs typeface="Consolas" panose="020B0609020204030204" pitchFamily="49" charset="0"/>
              </a:rPr>
              <a:t>static</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a:solidFill>
                  <a:srgbClr val="0000FF"/>
                </a:solidFill>
                <a:latin typeface="Consolas" panose="020B0609020204030204" pitchFamily="49" charset="0"/>
                <a:ea typeface="Calibri" panose="020F0502020204030204" pitchFamily="34" charset="0"/>
                <a:cs typeface="Consolas" panose="020B0609020204030204" pitchFamily="49" charset="0"/>
              </a:rPr>
              <a:t>void</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gst_track_src_class_init</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GstTrackSrcClass</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klass</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GObjectClass</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gobject_class</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GstElementClass</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gstelement_class</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GstBaseSrcClass</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gstbasesrc_class</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GstPushSrcClass</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gstpushsrc_class</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gobject_class</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GObjectClass</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klass</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gstelement_class</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GstElementClass</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klass</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gstbasesrc_class</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GstBaseSrcClass</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klass</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gstpushsrc_class</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GstPushSrcClass</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klass</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gstbasesrc_class</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-&gt;start = GST_DEBUG_FUNCPTR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gst_track_src_start</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gstbasesrc_class</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-&gt;stop = GST_DEBUG_FUNCPTR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gst_track_src_stop</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gstpushsrc_class</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-&gt;create = GST_DEBUG_FUNCPTR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gst_track_src_create</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gstbasesrc_class</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-&gt;query = GST_DEBUG_FUNCPTR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gst_track_src_query</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GST_DEBUG_CATEGORY_INIT (</a:t>
            </a:r>
            <a:r>
              <a:rPr lang="en-CA" sz="950" dirty="0" err="1">
                <a:solidFill>
                  <a:srgbClr val="000000"/>
                </a:solidFill>
                <a:latin typeface="Consolas" panose="020B0609020204030204" pitchFamily="49" charset="0"/>
                <a:ea typeface="Calibri" panose="020F0502020204030204" pitchFamily="34" charset="0"/>
                <a:cs typeface="Consolas" panose="020B0609020204030204" pitchFamily="49" charset="0"/>
              </a:rPr>
              <a:t>track_src_debug</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a:solidFill>
                  <a:srgbClr val="A31515"/>
                </a:solidFill>
                <a:latin typeface="Consolas" panose="020B0609020204030204" pitchFamily="49" charset="0"/>
                <a:ea typeface="Calibri" panose="020F0502020204030204" pitchFamily="34" charset="0"/>
                <a:cs typeface="Consolas" panose="020B0609020204030204" pitchFamily="49" charset="0"/>
              </a:rPr>
              <a:t>"tracksrc"</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0,</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r>
              <a:rPr lang="en-CA" sz="950" dirty="0">
                <a:solidFill>
                  <a:srgbClr val="A31515"/>
                </a:solidFill>
                <a:latin typeface="Consolas" panose="020B0609020204030204" pitchFamily="49" charset="0"/>
                <a:ea typeface="Calibri" panose="020F0502020204030204" pitchFamily="34" charset="0"/>
                <a:cs typeface="Consolas" panose="020B0609020204030204" pitchFamily="49" charset="0"/>
              </a:rPr>
              <a:t>"NDI Target Source"</a:t>
            </a: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a:t>
            </a:r>
            <a:endParaRPr lang="en-CA" sz="1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CA" sz="950" dirty="0">
                <a:solidFill>
                  <a:srgbClr val="000000"/>
                </a:solidFill>
                <a:latin typeface="Consolas" panose="020B0609020204030204" pitchFamily="49" charset="0"/>
                <a:ea typeface="Calibri" panose="020F0502020204030204" pitchFamily="34" charset="0"/>
                <a:cs typeface="Consolas" panose="020B0609020204030204" pitchFamily="49" charset="0"/>
              </a:rPr>
              <a:t> </a:t>
            </a:r>
            <a:endParaRPr lang="en-CA"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TextBox 3"/>
          <p:cNvSpPr txBox="1"/>
          <p:nvPr/>
        </p:nvSpPr>
        <p:spPr>
          <a:xfrm>
            <a:off x="3119919" y="626724"/>
            <a:ext cx="5171326" cy="707886"/>
          </a:xfrm>
          <a:prstGeom prst="rect">
            <a:avLst/>
          </a:prstGeom>
          <a:solidFill>
            <a:schemeClr val="bg2"/>
          </a:solidFill>
        </p:spPr>
        <p:txBody>
          <a:bodyPr wrap="square" rtlCol="0">
            <a:spAutoFit/>
          </a:bodyPr>
          <a:lstStyle/>
          <a:p>
            <a:r>
              <a:rPr lang="en-CA" sz="2000" dirty="0"/>
              <a:t>Part of tracksrc </a:t>
            </a:r>
            <a:r>
              <a:rPr lang="en-CA" sz="2000" dirty="0" err="1"/>
              <a:t>init</a:t>
            </a:r>
            <a:r>
              <a:rPr lang="en-CA" sz="2000" dirty="0"/>
              <a:t> (</a:t>
            </a:r>
            <a:r>
              <a:rPr lang="en-CA" sz="2000" dirty="0" err="1"/>
              <a:t>tracksrc.c</a:t>
            </a:r>
            <a:r>
              <a:rPr lang="en-CA" sz="2000" dirty="0"/>
              <a:t>), shows function pointers to satisfy inheritance </a:t>
            </a:r>
          </a:p>
        </p:txBody>
      </p:sp>
    </p:spTree>
    <p:extLst>
      <p:ext uri="{BB962C8B-B14F-4D97-AF65-F5344CB8AC3E}">
        <p14:creationId xmlns:p14="http://schemas.microsoft.com/office/powerpoint/2010/main" val="38966790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Simplified Pipeline</a:t>
            </a:r>
          </a:p>
        </p:txBody>
      </p:sp>
      <p:pic>
        <p:nvPicPr>
          <p:cNvPr id="8" name="Content Placeholder 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832821" y="2677886"/>
            <a:ext cx="9922425" cy="3461657"/>
          </a:xfrm>
        </p:spPr>
      </p:pic>
    </p:spTree>
    <p:extLst>
      <p:ext uri="{BB962C8B-B14F-4D97-AF65-F5344CB8AC3E}">
        <p14:creationId xmlns:p14="http://schemas.microsoft.com/office/powerpoint/2010/main" val="14912264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20000"/>
              </a:schemeClr>
            </a:gs>
            <a:gs pos="100000">
              <a:schemeClr val="bg2">
                <a:shade val="98000"/>
                <a:satMod val="120000"/>
                <a:lumMod val="98000"/>
              </a:schemeClr>
            </a:gs>
          </a:gsLst>
          <a:lin ang="5400000" scaled="0"/>
        </a:gradFill>
        <a:effectLst/>
      </p:bgPr>
    </p:bg>
    <p:spTree>
      <p:nvGrpSpPr>
        <p:cNvPr id="1" name=""/>
        <p:cNvGrpSpPr/>
        <p:nvPr/>
      </p:nvGrpSpPr>
      <p:grpSpPr>
        <a:xfrm>
          <a:off x="0" y="0"/>
          <a:ext cx="0" cy="0"/>
          <a:chOff x="0" y="0"/>
          <a:chExt cx="0" cy="0"/>
        </a:xfrm>
      </p:grpSpPr>
      <p:grpSp>
        <p:nvGrpSpPr>
          <p:cNvPr id="50" name="Group 49">
            <a:extLst>
              <a:ext uri="{FF2B5EF4-FFF2-40B4-BE49-F238E27FC236}">
                <a16:creationId xmlns:a16="http://schemas.microsoft.com/office/drawing/2014/main" id="{6884825E-EC03-4722-8283-74EC8EECC4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51" name="Freeform 11">
              <a:extLst>
                <a:ext uri="{FF2B5EF4-FFF2-40B4-BE49-F238E27FC236}">
                  <a16:creationId xmlns:a16="http://schemas.microsoft.com/office/drawing/2014/main" id="{C04A4164-FDD3-4AE9-8129-4E1B921E25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52" name="Freeform 12">
              <a:extLst>
                <a:ext uri="{FF2B5EF4-FFF2-40B4-BE49-F238E27FC236}">
                  <a16:creationId xmlns:a16="http://schemas.microsoft.com/office/drawing/2014/main" id="{242BA971-550B-4D73-A876-FA172A0CD3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53" name="Freeform 13">
              <a:extLst>
                <a:ext uri="{FF2B5EF4-FFF2-40B4-BE49-F238E27FC236}">
                  <a16:creationId xmlns:a16="http://schemas.microsoft.com/office/drawing/2014/main" id="{F52F4EE2-AD57-433A-87C2-B1418FE22D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54" name="Freeform 14">
              <a:extLst>
                <a:ext uri="{FF2B5EF4-FFF2-40B4-BE49-F238E27FC236}">
                  <a16:creationId xmlns:a16="http://schemas.microsoft.com/office/drawing/2014/main" id="{418466F3-BDB0-4394-BA4A-CF39BF6900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55" name="Freeform 15">
              <a:extLst>
                <a:ext uri="{FF2B5EF4-FFF2-40B4-BE49-F238E27FC236}">
                  <a16:creationId xmlns:a16="http://schemas.microsoft.com/office/drawing/2014/main" id="{9B5012CA-30F7-4EAF-9345-0EC48D013C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56" name="Freeform 16">
              <a:extLst>
                <a:ext uri="{FF2B5EF4-FFF2-40B4-BE49-F238E27FC236}">
                  <a16:creationId xmlns:a16="http://schemas.microsoft.com/office/drawing/2014/main" id="{F1CEB021-8D0F-48F1-947A-7F206BE2DC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57" name="Freeform 17">
              <a:extLst>
                <a:ext uri="{FF2B5EF4-FFF2-40B4-BE49-F238E27FC236}">
                  <a16:creationId xmlns:a16="http://schemas.microsoft.com/office/drawing/2014/main" id="{03D5F265-52CB-44C4-AC6C-690E2BAFF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58" name="Freeform 18">
              <a:extLst>
                <a:ext uri="{FF2B5EF4-FFF2-40B4-BE49-F238E27FC236}">
                  <a16:creationId xmlns:a16="http://schemas.microsoft.com/office/drawing/2014/main" id="{AC865DC3-14CF-426B-B727-540299B5F8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59" name="Freeform 19">
              <a:extLst>
                <a:ext uri="{FF2B5EF4-FFF2-40B4-BE49-F238E27FC236}">
                  <a16:creationId xmlns:a16="http://schemas.microsoft.com/office/drawing/2014/main" id="{28D0689D-31AE-4EAE-8B89-90DCD47F1B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60" name="Freeform 20">
              <a:extLst>
                <a:ext uri="{FF2B5EF4-FFF2-40B4-BE49-F238E27FC236}">
                  <a16:creationId xmlns:a16="http://schemas.microsoft.com/office/drawing/2014/main" id="{17172BB3-0B74-4B5A-B1FC-09313DAC3C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61" name="Freeform 21">
              <a:extLst>
                <a:ext uri="{FF2B5EF4-FFF2-40B4-BE49-F238E27FC236}">
                  <a16:creationId xmlns:a16="http://schemas.microsoft.com/office/drawing/2014/main" id="{24BF584C-D8EA-4C47-98AB-CDD5EB007A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62" name="Freeform 22">
              <a:extLst>
                <a:ext uri="{FF2B5EF4-FFF2-40B4-BE49-F238E27FC236}">
                  <a16:creationId xmlns:a16="http://schemas.microsoft.com/office/drawing/2014/main" id="{124EB1F1-5E4E-4599-A171-9D77920220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64" name="Group 63">
            <a:extLst>
              <a:ext uri="{FF2B5EF4-FFF2-40B4-BE49-F238E27FC236}">
                <a16:creationId xmlns:a16="http://schemas.microsoft.com/office/drawing/2014/main" id="{2209368F-1AD1-453A-8026-F04870973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157"/>
            <a:ext cx="2356675" cy="6853096"/>
            <a:chOff x="6627813" y="195610"/>
            <a:chExt cx="1952625" cy="5678141"/>
          </a:xfrm>
        </p:grpSpPr>
        <p:sp>
          <p:nvSpPr>
            <p:cNvPr id="65" name="Freeform 27">
              <a:extLst>
                <a:ext uri="{FF2B5EF4-FFF2-40B4-BE49-F238E27FC236}">
                  <a16:creationId xmlns:a16="http://schemas.microsoft.com/office/drawing/2014/main" id="{0E69BFA4-17AB-4ABA-8D3C-631A60BE02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66" name="Freeform 28">
              <a:extLst>
                <a:ext uri="{FF2B5EF4-FFF2-40B4-BE49-F238E27FC236}">
                  <a16:creationId xmlns:a16="http://schemas.microsoft.com/office/drawing/2014/main" id="{4292D11E-0C01-4D2E-B100-948220935C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67" name="Freeform 29">
              <a:extLst>
                <a:ext uri="{FF2B5EF4-FFF2-40B4-BE49-F238E27FC236}">
                  <a16:creationId xmlns:a16="http://schemas.microsoft.com/office/drawing/2014/main" id="{A3A4E547-348A-4729-AC00-1E84D8AD92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68" name="Freeform 30">
              <a:extLst>
                <a:ext uri="{FF2B5EF4-FFF2-40B4-BE49-F238E27FC236}">
                  <a16:creationId xmlns:a16="http://schemas.microsoft.com/office/drawing/2014/main" id="{AE8EC33A-BF4E-4E28-A2F7-033DBBC9DF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69" name="Freeform 31">
              <a:extLst>
                <a:ext uri="{FF2B5EF4-FFF2-40B4-BE49-F238E27FC236}">
                  <a16:creationId xmlns:a16="http://schemas.microsoft.com/office/drawing/2014/main" id="{38008CFA-8ADB-4AAB-8B54-AB4FE356C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70" name="Freeform 32">
              <a:extLst>
                <a:ext uri="{FF2B5EF4-FFF2-40B4-BE49-F238E27FC236}">
                  <a16:creationId xmlns:a16="http://schemas.microsoft.com/office/drawing/2014/main" id="{F204F925-C7EB-4729-AB29-7487C8ED83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71" name="Freeform 33">
              <a:extLst>
                <a:ext uri="{FF2B5EF4-FFF2-40B4-BE49-F238E27FC236}">
                  <a16:creationId xmlns:a16="http://schemas.microsoft.com/office/drawing/2014/main" id="{1B850771-3B79-4C27-9CC3-3CBFA90C0F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72" name="Freeform 34">
              <a:extLst>
                <a:ext uri="{FF2B5EF4-FFF2-40B4-BE49-F238E27FC236}">
                  <a16:creationId xmlns:a16="http://schemas.microsoft.com/office/drawing/2014/main" id="{565B2F18-C5EF-495D-AF6F-226B7CA9D7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73" name="Freeform 35">
              <a:extLst>
                <a:ext uri="{FF2B5EF4-FFF2-40B4-BE49-F238E27FC236}">
                  <a16:creationId xmlns:a16="http://schemas.microsoft.com/office/drawing/2014/main" id="{BCA4A062-5E82-4F21-BEBB-7E3C4405CF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74" name="Freeform 36">
              <a:extLst>
                <a:ext uri="{FF2B5EF4-FFF2-40B4-BE49-F238E27FC236}">
                  <a16:creationId xmlns:a16="http://schemas.microsoft.com/office/drawing/2014/main" id="{85F9DBD7-D46E-42F2-96B1-B9EE446918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75" name="Freeform 37">
              <a:extLst>
                <a:ext uri="{FF2B5EF4-FFF2-40B4-BE49-F238E27FC236}">
                  <a16:creationId xmlns:a16="http://schemas.microsoft.com/office/drawing/2014/main" id="{098B143F-4C52-4FCA-AC4A-E9BEA91C73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76" name="Freeform 38">
              <a:extLst>
                <a:ext uri="{FF2B5EF4-FFF2-40B4-BE49-F238E27FC236}">
                  <a16:creationId xmlns:a16="http://schemas.microsoft.com/office/drawing/2014/main" id="{A3617AF3-1F02-4D51-9908-2C09CAAB05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8" name="Rectangle 77">
            <a:extLst>
              <a:ext uri="{FF2B5EF4-FFF2-40B4-BE49-F238E27FC236}">
                <a16:creationId xmlns:a16="http://schemas.microsoft.com/office/drawing/2014/main" id="{76CA6318-3044-4469-954D-B2AD9DE3B6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80" name="Freeform 6">
            <a:extLst>
              <a:ext uri="{FF2B5EF4-FFF2-40B4-BE49-F238E27FC236}">
                <a16:creationId xmlns:a16="http://schemas.microsoft.com/office/drawing/2014/main" id="{56320D52-458E-414C-8DAD-A51E40CC4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useBgFill="1">
        <p:nvSpPr>
          <p:cNvPr id="82" name="Rectangle 81">
            <a:extLst>
              <a:ext uri="{FF2B5EF4-FFF2-40B4-BE49-F238E27FC236}">
                <a16:creationId xmlns:a16="http://schemas.microsoft.com/office/drawing/2014/main" id="{BF995729-734F-4934-A221-95B0BBE45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4" name="Group 83">
            <a:extLst>
              <a:ext uri="{FF2B5EF4-FFF2-40B4-BE49-F238E27FC236}">
                <a16:creationId xmlns:a16="http://schemas.microsoft.com/office/drawing/2014/main" id="{DC8AC836-B267-452C-898A-FAAE2AD9F9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85" name="Freeform 11">
              <a:extLst>
                <a:ext uri="{FF2B5EF4-FFF2-40B4-BE49-F238E27FC236}">
                  <a16:creationId xmlns:a16="http://schemas.microsoft.com/office/drawing/2014/main" id="{0F1EDA1B-F518-4089-A20C-1562C567B0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86" name="Freeform 12">
              <a:extLst>
                <a:ext uri="{FF2B5EF4-FFF2-40B4-BE49-F238E27FC236}">
                  <a16:creationId xmlns:a16="http://schemas.microsoft.com/office/drawing/2014/main" id="{524E3AA2-1990-4B76-B39B-7B98FBF7E8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87" name="Freeform 13">
              <a:extLst>
                <a:ext uri="{FF2B5EF4-FFF2-40B4-BE49-F238E27FC236}">
                  <a16:creationId xmlns:a16="http://schemas.microsoft.com/office/drawing/2014/main" id="{10ADF49E-DC47-4C44-B110-7B601E1C4B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88" name="Freeform 14">
              <a:extLst>
                <a:ext uri="{FF2B5EF4-FFF2-40B4-BE49-F238E27FC236}">
                  <a16:creationId xmlns:a16="http://schemas.microsoft.com/office/drawing/2014/main" id="{92BD33CB-9037-4937-8DDB-5DD2E93106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89" name="Freeform 15">
              <a:extLst>
                <a:ext uri="{FF2B5EF4-FFF2-40B4-BE49-F238E27FC236}">
                  <a16:creationId xmlns:a16="http://schemas.microsoft.com/office/drawing/2014/main" id="{36B50379-10F5-43F2-A844-D4C2BA8DF9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90" name="Freeform 16">
              <a:extLst>
                <a:ext uri="{FF2B5EF4-FFF2-40B4-BE49-F238E27FC236}">
                  <a16:creationId xmlns:a16="http://schemas.microsoft.com/office/drawing/2014/main" id="{20BD2588-F7E4-4E8C-903A-3CD65A306C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91" name="Freeform 17">
              <a:extLst>
                <a:ext uri="{FF2B5EF4-FFF2-40B4-BE49-F238E27FC236}">
                  <a16:creationId xmlns:a16="http://schemas.microsoft.com/office/drawing/2014/main" id="{CB97DE25-60EE-4B41-AD1E-203A4BE75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92" name="Freeform 18">
              <a:extLst>
                <a:ext uri="{FF2B5EF4-FFF2-40B4-BE49-F238E27FC236}">
                  <a16:creationId xmlns:a16="http://schemas.microsoft.com/office/drawing/2014/main" id="{FFA6F278-90D2-473C-8CE1-C92DA15223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93" name="Freeform 19">
              <a:extLst>
                <a:ext uri="{FF2B5EF4-FFF2-40B4-BE49-F238E27FC236}">
                  <a16:creationId xmlns:a16="http://schemas.microsoft.com/office/drawing/2014/main" id="{A51E8145-41FB-4952-B412-B3B0C63D1B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94" name="Freeform 20">
              <a:extLst>
                <a:ext uri="{FF2B5EF4-FFF2-40B4-BE49-F238E27FC236}">
                  <a16:creationId xmlns:a16="http://schemas.microsoft.com/office/drawing/2014/main" id="{94EE081A-E1E7-4506-8EF3-80C9B3E5D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95" name="Freeform 21">
              <a:extLst>
                <a:ext uri="{FF2B5EF4-FFF2-40B4-BE49-F238E27FC236}">
                  <a16:creationId xmlns:a16="http://schemas.microsoft.com/office/drawing/2014/main" id="{89941831-D6E7-4A3F-80B6-EC1DAD1E4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96" name="Freeform 22">
              <a:extLst>
                <a:ext uri="{FF2B5EF4-FFF2-40B4-BE49-F238E27FC236}">
                  <a16:creationId xmlns:a16="http://schemas.microsoft.com/office/drawing/2014/main" id="{87D676BF-39A6-45B4-954B-F726BFB4A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sp>
        <p:nvSpPr>
          <p:cNvPr id="2" name="Title 1">
            <a:extLst>
              <a:ext uri="{FF2B5EF4-FFF2-40B4-BE49-F238E27FC236}">
                <a16:creationId xmlns:a16="http://schemas.microsoft.com/office/drawing/2014/main" id="{44D40F53-D1B5-46F8-9F0F-C1A2408B3AED}"/>
              </a:ext>
            </a:extLst>
          </p:cNvPr>
          <p:cNvSpPr>
            <a:spLocks noGrp="1"/>
          </p:cNvSpPr>
          <p:nvPr>
            <p:ph type="title"/>
          </p:nvPr>
        </p:nvSpPr>
        <p:spPr>
          <a:xfrm>
            <a:off x="2589213" y="3767328"/>
            <a:ext cx="8915399" cy="1924635"/>
          </a:xfrm>
        </p:spPr>
        <p:txBody>
          <a:bodyPr vert="horz" lIns="91440" tIns="45720" rIns="91440" bIns="45720" rtlCol="0" anchor="b">
            <a:normAutofit/>
          </a:bodyPr>
          <a:lstStyle/>
          <a:p>
            <a:r>
              <a:rPr lang="en-US" sz="5400" dirty="0"/>
              <a:t>trackbin</a:t>
            </a:r>
          </a:p>
        </p:txBody>
      </p:sp>
      <p:sp>
        <p:nvSpPr>
          <p:cNvPr id="4" name="Text Placeholder 3">
            <a:extLst>
              <a:ext uri="{FF2B5EF4-FFF2-40B4-BE49-F238E27FC236}">
                <a16:creationId xmlns:a16="http://schemas.microsoft.com/office/drawing/2014/main" id="{0BB177E4-7148-4C22-9075-737B156EF833}"/>
              </a:ext>
            </a:extLst>
          </p:cNvPr>
          <p:cNvSpPr>
            <a:spLocks noGrp="1"/>
          </p:cNvSpPr>
          <p:nvPr>
            <p:ph type="body" sz="half" idx="2"/>
          </p:nvPr>
        </p:nvSpPr>
        <p:spPr>
          <a:xfrm>
            <a:off x="2589213" y="5696711"/>
            <a:ext cx="8915399" cy="507189"/>
          </a:xfrm>
        </p:spPr>
        <p:txBody>
          <a:bodyPr vert="horz" lIns="91440" tIns="45720" rIns="91440" bIns="45720" rtlCol="0" anchor="t">
            <a:normAutofit/>
          </a:bodyPr>
          <a:lstStyle/>
          <a:p>
            <a:r>
              <a:rPr lang="en-US" sz="1800" dirty="0">
                <a:solidFill>
                  <a:schemeClr val="tx1">
                    <a:lumMod val="65000"/>
                    <a:lumOff val="35000"/>
                  </a:schemeClr>
                </a:solidFill>
              </a:rPr>
              <a:t>A bin in GStreamer can be treated the same way as an element.</a:t>
            </a:r>
          </a:p>
          <a:p>
            <a:endParaRPr lang="en-US" sz="1800" dirty="0">
              <a:solidFill>
                <a:schemeClr val="tx1">
                  <a:lumMod val="65000"/>
                  <a:lumOff val="35000"/>
                </a:schemeClr>
              </a:solidFill>
            </a:endParaRPr>
          </a:p>
        </p:txBody>
      </p:sp>
      <p:grpSp>
        <p:nvGrpSpPr>
          <p:cNvPr id="98" name="Group 97">
            <a:extLst>
              <a:ext uri="{FF2B5EF4-FFF2-40B4-BE49-F238E27FC236}">
                <a16:creationId xmlns:a16="http://schemas.microsoft.com/office/drawing/2014/main" id="{63803189-8594-468F-8687-002E5E8B7B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99" name="Freeform 27">
              <a:extLst>
                <a:ext uri="{FF2B5EF4-FFF2-40B4-BE49-F238E27FC236}">
                  <a16:creationId xmlns:a16="http://schemas.microsoft.com/office/drawing/2014/main" id="{524B4BF2-2F49-4ACB-B0E2-C9367EAA65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00" name="Freeform 28">
              <a:extLst>
                <a:ext uri="{FF2B5EF4-FFF2-40B4-BE49-F238E27FC236}">
                  <a16:creationId xmlns:a16="http://schemas.microsoft.com/office/drawing/2014/main" id="{6D8857A3-2939-41D8-9830-288DAFFE49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01" name="Freeform 29">
              <a:extLst>
                <a:ext uri="{FF2B5EF4-FFF2-40B4-BE49-F238E27FC236}">
                  <a16:creationId xmlns:a16="http://schemas.microsoft.com/office/drawing/2014/main" id="{1DA77A5D-B86C-490F-A6C2-288B73BE1A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02" name="Freeform 30">
              <a:extLst>
                <a:ext uri="{FF2B5EF4-FFF2-40B4-BE49-F238E27FC236}">
                  <a16:creationId xmlns:a16="http://schemas.microsoft.com/office/drawing/2014/main" id="{B200D852-4B00-42D7-9528-A84190EC21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03" name="Freeform 31">
              <a:extLst>
                <a:ext uri="{FF2B5EF4-FFF2-40B4-BE49-F238E27FC236}">
                  <a16:creationId xmlns:a16="http://schemas.microsoft.com/office/drawing/2014/main" id="{0B4999C3-4DCD-4DC9-B0E1-2A3C9D066C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04" name="Freeform 32">
              <a:extLst>
                <a:ext uri="{FF2B5EF4-FFF2-40B4-BE49-F238E27FC236}">
                  <a16:creationId xmlns:a16="http://schemas.microsoft.com/office/drawing/2014/main" id="{F0AF3221-F07E-4CD8-8B93-D2F105C8BF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05" name="Freeform 33">
              <a:extLst>
                <a:ext uri="{FF2B5EF4-FFF2-40B4-BE49-F238E27FC236}">
                  <a16:creationId xmlns:a16="http://schemas.microsoft.com/office/drawing/2014/main" id="{E15A4F0C-0F9E-46EA-9B76-2EA0FFC6EC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06" name="Freeform 34">
              <a:extLst>
                <a:ext uri="{FF2B5EF4-FFF2-40B4-BE49-F238E27FC236}">
                  <a16:creationId xmlns:a16="http://schemas.microsoft.com/office/drawing/2014/main" id="{355A262C-C283-4761-8925-91A4CC555E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07" name="Freeform 35">
              <a:extLst>
                <a:ext uri="{FF2B5EF4-FFF2-40B4-BE49-F238E27FC236}">
                  <a16:creationId xmlns:a16="http://schemas.microsoft.com/office/drawing/2014/main" id="{DD2C5D81-744A-49D4-B47B-D7D099AE24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108" name="Freeform 36">
              <a:extLst>
                <a:ext uri="{FF2B5EF4-FFF2-40B4-BE49-F238E27FC236}">
                  <a16:creationId xmlns:a16="http://schemas.microsoft.com/office/drawing/2014/main" id="{BC645DE2-57BB-4AC2-9C43-E446BAEE7E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109" name="Freeform 37">
              <a:extLst>
                <a:ext uri="{FF2B5EF4-FFF2-40B4-BE49-F238E27FC236}">
                  <a16:creationId xmlns:a16="http://schemas.microsoft.com/office/drawing/2014/main" id="{32C6A1B1-3235-401E-95F2-224FBEF10A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110" name="Freeform 38">
              <a:extLst>
                <a:ext uri="{FF2B5EF4-FFF2-40B4-BE49-F238E27FC236}">
                  <a16:creationId xmlns:a16="http://schemas.microsoft.com/office/drawing/2014/main" id="{A9FFDCBF-B36B-4D18-A7AB-A03B7FE484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112" name="Rectangle 111">
            <a:extLst>
              <a:ext uri="{FF2B5EF4-FFF2-40B4-BE49-F238E27FC236}">
                <a16:creationId xmlns:a16="http://schemas.microsoft.com/office/drawing/2014/main" id="{2A8D191A-3D11-434C-93FB-31B29994C4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pic>
        <p:nvPicPr>
          <p:cNvPr id="6" name="Content Placeholder 5">
            <a:extLst>
              <a:ext uri="{FF2B5EF4-FFF2-40B4-BE49-F238E27FC236}">
                <a16:creationId xmlns:a16="http://schemas.microsoft.com/office/drawing/2014/main" id="{502BAA03-6DD4-4595-99D3-C78C390984A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68772" y="931234"/>
            <a:ext cx="2272092" cy="2248112"/>
          </a:xfrm>
          <a:prstGeom prst="rect">
            <a:avLst/>
          </a:prstGeom>
        </p:spPr>
      </p:pic>
      <p:pic>
        <p:nvPicPr>
          <p:cNvPr id="8" name="Picture 7">
            <a:extLst>
              <a:ext uri="{FF2B5EF4-FFF2-40B4-BE49-F238E27FC236}">
                <a16:creationId xmlns:a16="http://schemas.microsoft.com/office/drawing/2014/main" id="{409FF7BA-455C-4594-A1BA-12FC872173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4653" y="541017"/>
            <a:ext cx="7458739" cy="4248067"/>
          </a:xfrm>
          <a:prstGeom prst="rect">
            <a:avLst/>
          </a:prstGeom>
        </p:spPr>
      </p:pic>
      <p:sp>
        <p:nvSpPr>
          <p:cNvPr id="114" name="Freeform 33">
            <a:extLst>
              <a:ext uri="{FF2B5EF4-FFF2-40B4-BE49-F238E27FC236}">
                <a16:creationId xmlns:a16="http://schemas.microsoft.com/office/drawing/2014/main" id="{455BD04C-4A30-4227-8646-D5CA42252A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588986"/>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10" name="TextBox 9">
            <a:extLst>
              <a:ext uri="{FF2B5EF4-FFF2-40B4-BE49-F238E27FC236}">
                <a16:creationId xmlns:a16="http://schemas.microsoft.com/office/drawing/2014/main" id="{74622C69-24F4-4442-8D0B-3568834431BD}"/>
              </a:ext>
            </a:extLst>
          </p:cNvPr>
          <p:cNvSpPr txBox="1"/>
          <p:nvPr/>
        </p:nvSpPr>
        <p:spPr>
          <a:xfrm>
            <a:off x="1687482" y="3429000"/>
            <a:ext cx="2552183" cy="646331"/>
          </a:xfrm>
          <a:prstGeom prst="rect">
            <a:avLst/>
          </a:prstGeom>
          <a:noFill/>
        </p:spPr>
        <p:txBody>
          <a:bodyPr wrap="square" rtlCol="0">
            <a:spAutoFit/>
          </a:bodyPr>
          <a:lstStyle/>
          <a:p>
            <a:r>
              <a:rPr lang="en-CA" dirty="0">
                <a:hlinkClick r:id="rId4" action="ppaction://hlinkfile"/>
              </a:rPr>
              <a:t>Compare to DOT file</a:t>
            </a:r>
          </a:p>
          <a:p>
            <a:endParaRPr lang="en-US" dirty="0"/>
          </a:p>
        </p:txBody>
      </p:sp>
    </p:spTree>
    <p:extLst>
      <p:ext uri="{BB962C8B-B14F-4D97-AF65-F5344CB8AC3E}">
        <p14:creationId xmlns:p14="http://schemas.microsoft.com/office/powerpoint/2010/main" val="34455637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20000"/>
              </a:schemeClr>
            </a:gs>
            <a:gs pos="100000">
              <a:schemeClr val="bg2">
                <a:shade val="98000"/>
                <a:satMod val="120000"/>
                <a:lumMod val="98000"/>
              </a:schemeClr>
            </a:gs>
          </a:gsLst>
          <a:lin ang="5400000" scaled="0"/>
        </a:gradFill>
        <a:effectLst/>
      </p:bgPr>
    </p:bg>
    <p:spTree>
      <p:nvGrpSpPr>
        <p:cNvPr id="1" name=""/>
        <p:cNvGrpSpPr/>
        <p:nvPr/>
      </p:nvGrpSpPr>
      <p:grpSpPr>
        <a:xfrm>
          <a:off x="0" y="0"/>
          <a:ext cx="0" cy="0"/>
          <a:chOff x="0" y="0"/>
          <a:chExt cx="0" cy="0"/>
        </a:xfrm>
      </p:grpSpPr>
      <p:grpSp>
        <p:nvGrpSpPr>
          <p:cNvPr id="50" name="Group 49">
            <a:extLst>
              <a:ext uri="{FF2B5EF4-FFF2-40B4-BE49-F238E27FC236}">
                <a16:creationId xmlns:a16="http://schemas.microsoft.com/office/drawing/2014/main" id="{6884825E-EC03-4722-8283-74EC8EECC4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51" name="Freeform 11">
              <a:extLst>
                <a:ext uri="{FF2B5EF4-FFF2-40B4-BE49-F238E27FC236}">
                  <a16:creationId xmlns:a16="http://schemas.microsoft.com/office/drawing/2014/main" id="{C04A4164-FDD3-4AE9-8129-4E1B921E25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52" name="Freeform 12">
              <a:extLst>
                <a:ext uri="{FF2B5EF4-FFF2-40B4-BE49-F238E27FC236}">
                  <a16:creationId xmlns:a16="http://schemas.microsoft.com/office/drawing/2014/main" id="{242BA971-550B-4D73-A876-FA172A0CD3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53" name="Freeform 13">
              <a:extLst>
                <a:ext uri="{FF2B5EF4-FFF2-40B4-BE49-F238E27FC236}">
                  <a16:creationId xmlns:a16="http://schemas.microsoft.com/office/drawing/2014/main" id="{F52F4EE2-AD57-433A-87C2-B1418FE22D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54" name="Freeform 14">
              <a:extLst>
                <a:ext uri="{FF2B5EF4-FFF2-40B4-BE49-F238E27FC236}">
                  <a16:creationId xmlns:a16="http://schemas.microsoft.com/office/drawing/2014/main" id="{418466F3-BDB0-4394-BA4A-CF39BF6900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55" name="Freeform 15">
              <a:extLst>
                <a:ext uri="{FF2B5EF4-FFF2-40B4-BE49-F238E27FC236}">
                  <a16:creationId xmlns:a16="http://schemas.microsoft.com/office/drawing/2014/main" id="{9B5012CA-30F7-4EAF-9345-0EC48D013C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56" name="Freeform 16">
              <a:extLst>
                <a:ext uri="{FF2B5EF4-FFF2-40B4-BE49-F238E27FC236}">
                  <a16:creationId xmlns:a16="http://schemas.microsoft.com/office/drawing/2014/main" id="{F1CEB021-8D0F-48F1-947A-7F206BE2DC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57" name="Freeform 17">
              <a:extLst>
                <a:ext uri="{FF2B5EF4-FFF2-40B4-BE49-F238E27FC236}">
                  <a16:creationId xmlns:a16="http://schemas.microsoft.com/office/drawing/2014/main" id="{03D5F265-52CB-44C4-AC6C-690E2BAFF9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58" name="Freeform 18">
              <a:extLst>
                <a:ext uri="{FF2B5EF4-FFF2-40B4-BE49-F238E27FC236}">
                  <a16:creationId xmlns:a16="http://schemas.microsoft.com/office/drawing/2014/main" id="{AC865DC3-14CF-426B-B727-540299B5F8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59" name="Freeform 19">
              <a:extLst>
                <a:ext uri="{FF2B5EF4-FFF2-40B4-BE49-F238E27FC236}">
                  <a16:creationId xmlns:a16="http://schemas.microsoft.com/office/drawing/2014/main" id="{28D0689D-31AE-4EAE-8B89-90DCD47F1B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60" name="Freeform 20">
              <a:extLst>
                <a:ext uri="{FF2B5EF4-FFF2-40B4-BE49-F238E27FC236}">
                  <a16:creationId xmlns:a16="http://schemas.microsoft.com/office/drawing/2014/main" id="{17172BB3-0B74-4B5A-B1FC-09313DAC3C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61" name="Freeform 21">
              <a:extLst>
                <a:ext uri="{FF2B5EF4-FFF2-40B4-BE49-F238E27FC236}">
                  <a16:creationId xmlns:a16="http://schemas.microsoft.com/office/drawing/2014/main" id="{24BF584C-D8EA-4C47-98AB-CDD5EB007A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62" name="Freeform 22">
              <a:extLst>
                <a:ext uri="{FF2B5EF4-FFF2-40B4-BE49-F238E27FC236}">
                  <a16:creationId xmlns:a16="http://schemas.microsoft.com/office/drawing/2014/main" id="{124EB1F1-5E4E-4599-A171-9D77920220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64" name="Group 63">
            <a:extLst>
              <a:ext uri="{FF2B5EF4-FFF2-40B4-BE49-F238E27FC236}">
                <a16:creationId xmlns:a16="http://schemas.microsoft.com/office/drawing/2014/main" id="{2209368F-1AD1-453A-8026-F04870973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157"/>
            <a:ext cx="2356675" cy="6853096"/>
            <a:chOff x="6627813" y="195610"/>
            <a:chExt cx="1952625" cy="5678141"/>
          </a:xfrm>
        </p:grpSpPr>
        <p:sp>
          <p:nvSpPr>
            <p:cNvPr id="65" name="Freeform 27">
              <a:extLst>
                <a:ext uri="{FF2B5EF4-FFF2-40B4-BE49-F238E27FC236}">
                  <a16:creationId xmlns:a16="http://schemas.microsoft.com/office/drawing/2014/main" id="{0E69BFA4-17AB-4ABA-8D3C-631A60BE02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66" name="Freeform 28">
              <a:extLst>
                <a:ext uri="{FF2B5EF4-FFF2-40B4-BE49-F238E27FC236}">
                  <a16:creationId xmlns:a16="http://schemas.microsoft.com/office/drawing/2014/main" id="{4292D11E-0C01-4D2E-B100-948220935C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67" name="Freeform 29">
              <a:extLst>
                <a:ext uri="{FF2B5EF4-FFF2-40B4-BE49-F238E27FC236}">
                  <a16:creationId xmlns:a16="http://schemas.microsoft.com/office/drawing/2014/main" id="{A3A4E547-348A-4729-AC00-1E84D8AD92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68" name="Freeform 30">
              <a:extLst>
                <a:ext uri="{FF2B5EF4-FFF2-40B4-BE49-F238E27FC236}">
                  <a16:creationId xmlns:a16="http://schemas.microsoft.com/office/drawing/2014/main" id="{AE8EC33A-BF4E-4E28-A2F7-033DBBC9DF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69" name="Freeform 31">
              <a:extLst>
                <a:ext uri="{FF2B5EF4-FFF2-40B4-BE49-F238E27FC236}">
                  <a16:creationId xmlns:a16="http://schemas.microsoft.com/office/drawing/2014/main" id="{38008CFA-8ADB-4AAB-8B54-AB4FE356C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70" name="Freeform 32">
              <a:extLst>
                <a:ext uri="{FF2B5EF4-FFF2-40B4-BE49-F238E27FC236}">
                  <a16:creationId xmlns:a16="http://schemas.microsoft.com/office/drawing/2014/main" id="{F204F925-C7EB-4729-AB29-7487C8ED83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71" name="Freeform 33">
              <a:extLst>
                <a:ext uri="{FF2B5EF4-FFF2-40B4-BE49-F238E27FC236}">
                  <a16:creationId xmlns:a16="http://schemas.microsoft.com/office/drawing/2014/main" id="{1B850771-3B79-4C27-9CC3-3CBFA90C0F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72" name="Freeform 34">
              <a:extLst>
                <a:ext uri="{FF2B5EF4-FFF2-40B4-BE49-F238E27FC236}">
                  <a16:creationId xmlns:a16="http://schemas.microsoft.com/office/drawing/2014/main" id="{565B2F18-C5EF-495D-AF6F-226B7CA9D7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73" name="Freeform 35">
              <a:extLst>
                <a:ext uri="{FF2B5EF4-FFF2-40B4-BE49-F238E27FC236}">
                  <a16:creationId xmlns:a16="http://schemas.microsoft.com/office/drawing/2014/main" id="{BCA4A062-5E82-4F21-BEBB-7E3C4405CF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74" name="Freeform 36">
              <a:extLst>
                <a:ext uri="{FF2B5EF4-FFF2-40B4-BE49-F238E27FC236}">
                  <a16:creationId xmlns:a16="http://schemas.microsoft.com/office/drawing/2014/main" id="{85F9DBD7-D46E-42F2-96B1-B9EE446918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75" name="Freeform 37">
              <a:extLst>
                <a:ext uri="{FF2B5EF4-FFF2-40B4-BE49-F238E27FC236}">
                  <a16:creationId xmlns:a16="http://schemas.microsoft.com/office/drawing/2014/main" id="{098B143F-4C52-4FCA-AC4A-E9BEA91C73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76" name="Freeform 38">
              <a:extLst>
                <a:ext uri="{FF2B5EF4-FFF2-40B4-BE49-F238E27FC236}">
                  <a16:creationId xmlns:a16="http://schemas.microsoft.com/office/drawing/2014/main" id="{A3617AF3-1F02-4D51-9908-2C09CAAB05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8" name="Rectangle 77">
            <a:extLst>
              <a:ext uri="{FF2B5EF4-FFF2-40B4-BE49-F238E27FC236}">
                <a16:creationId xmlns:a16="http://schemas.microsoft.com/office/drawing/2014/main" id="{76CA6318-3044-4469-954D-B2AD9DE3B6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80" name="Freeform 6">
            <a:extLst>
              <a:ext uri="{FF2B5EF4-FFF2-40B4-BE49-F238E27FC236}">
                <a16:creationId xmlns:a16="http://schemas.microsoft.com/office/drawing/2014/main" id="{56320D52-458E-414C-8DAD-A51E40CC4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useBgFill="1">
        <p:nvSpPr>
          <p:cNvPr id="82" name="Rectangle 81">
            <a:extLst>
              <a:ext uri="{FF2B5EF4-FFF2-40B4-BE49-F238E27FC236}">
                <a16:creationId xmlns:a16="http://schemas.microsoft.com/office/drawing/2014/main" id="{BF995729-734F-4934-A221-95B0BBE45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4" name="Group 83">
            <a:extLst>
              <a:ext uri="{FF2B5EF4-FFF2-40B4-BE49-F238E27FC236}">
                <a16:creationId xmlns:a16="http://schemas.microsoft.com/office/drawing/2014/main" id="{DC8AC836-B267-452C-898A-FAAE2AD9F99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85" name="Freeform 11">
              <a:extLst>
                <a:ext uri="{FF2B5EF4-FFF2-40B4-BE49-F238E27FC236}">
                  <a16:creationId xmlns:a16="http://schemas.microsoft.com/office/drawing/2014/main" id="{0F1EDA1B-F518-4089-A20C-1562C567B0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86" name="Freeform 12">
              <a:extLst>
                <a:ext uri="{FF2B5EF4-FFF2-40B4-BE49-F238E27FC236}">
                  <a16:creationId xmlns:a16="http://schemas.microsoft.com/office/drawing/2014/main" id="{524E3AA2-1990-4B76-B39B-7B98FBF7E8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87" name="Freeform 13">
              <a:extLst>
                <a:ext uri="{FF2B5EF4-FFF2-40B4-BE49-F238E27FC236}">
                  <a16:creationId xmlns:a16="http://schemas.microsoft.com/office/drawing/2014/main" id="{10ADF49E-DC47-4C44-B110-7B601E1C4B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88" name="Freeform 14">
              <a:extLst>
                <a:ext uri="{FF2B5EF4-FFF2-40B4-BE49-F238E27FC236}">
                  <a16:creationId xmlns:a16="http://schemas.microsoft.com/office/drawing/2014/main" id="{92BD33CB-9037-4937-8DDB-5DD2E93106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89" name="Freeform 15">
              <a:extLst>
                <a:ext uri="{FF2B5EF4-FFF2-40B4-BE49-F238E27FC236}">
                  <a16:creationId xmlns:a16="http://schemas.microsoft.com/office/drawing/2014/main" id="{36B50379-10F5-43F2-A844-D4C2BA8DF9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90" name="Freeform 16">
              <a:extLst>
                <a:ext uri="{FF2B5EF4-FFF2-40B4-BE49-F238E27FC236}">
                  <a16:creationId xmlns:a16="http://schemas.microsoft.com/office/drawing/2014/main" id="{20BD2588-F7E4-4E8C-903A-3CD65A306C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91" name="Freeform 17">
              <a:extLst>
                <a:ext uri="{FF2B5EF4-FFF2-40B4-BE49-F238E27FC236}">
                  <a16:creationId xmlns:a16="http://schemas.microsoft.com/office/drawing/2014/main" id="{CB97DE25-60EE-4B41-AD1E-203A4BE75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92" name="Freeform 18">
              <a:extLst>
                <a:ext uri="{FF2B5EF4-FFF2-40B4-BE49-F238E27FC236}">
                  <a16:creationId xmlns:a16="http://schemas.microsoft.com/office/drawing/2014/main" id="{FFA6F278-90D2-473C-8CE1-C92DA15223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93" name="Freeform 19">
              <a:extLst>
                <a:ext uri="{FF2B5EF4-FFF2-40B4-BE49-F238E27FC236}">
                  <a16:creationId xmlns:a16="http://schemas.microsoft.com/office/drawing/2014/main" id="{A51E8145-41FB-4952-B412-B3B0C63D1B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94" name="Freeform 20">
              <a:extLst>
                <a:ext uri="{FF2B5EF4-FFF2-40B4-BE49-F238E27FC236}">
                  <a16:creationId xmlns:a16="http://schemas.microsoft.com/office/drawing/2014/main" id="{94EE081A-E1E7-4506-8EF3-80C9B3E5D4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95" name="Freeform 21">
              <a:extLst>
                <a:ext uri="{FF2B5EF4-FFF2-40B4-BE49-F238E27FC236}">
                  <a16:creationId xmlns:a16="http://schemas.microsoft.com/office/drawing/2014/main" id="{89941831-D6E7-4A3F-80B6-EC1DAD1E44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96" name="Freeform 22">
              <a:extLst>
                <a:ext uri="{FF2B5EF4-FFF2-40B4-BE49-F238E27FC236}">
                  <a16:creationId xmlns:a16="http://schemas.microsoft.com/office/drawing/2014/main" id="{87D676BF-39A6-45B4-954B-F726BFB4A1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sp>
        <p:nvSpPr>
          <p:cNvPr id="2" name="Title 1">
            <a:extLst>
              <a:ext uri="{FF2B5EF4-FFF2-40B4-BE49-F238E27FC236}">
                <a16:creationId xmlns:a16="http://schemas.microsoft.com/office/drawing/2014/main" id="{44D40F53-D1B5-46F8-9F0F-C1A2408B3AED}"/>
              </a:ext>
            </a:extLst>
          </p:cNvPr>
          <p:cNvSpPr>
            <a:spLocks noGrp="1"/>
          </p:cNvSpPr>
          <p:nvPr>
            <p:ph type="title"/>
          </p:nvPr>
        </p:nvSpPr>
        <p:spPr>
          <a:xfrm>
            <a:off x="2589213" y="3767328"/>
            <a:ext cx="8915399" cy="1924635"/>
          </a:xfrm>
        </p:spPr>
        <p:txBody>
          <a:bodyPr vert="horz" lIns="91440" tIns="45720" rIns="91440" bIns="45720" rtlCol="0" anchor="b">
            <a:normAutofit/>
          </a:bodyPr>
          <a:lstStyle/>
          <a:p>
            <a:r>
              <a:rPr lang="en-US" sz="5400" dirty="0"/>
              <a:t>trackbin</a:t>
            </a:r>
          </a:p>
        </p:txBody>
      </p:sp>
      <p:sp>
        <p:nvSpPr>
          <p:cNvPr id="4" name="Text Placeholder 3">
            <a:extLst>
              <a:ext uri="{FF2B5EF4-FFF2-40B4-BE49-F238E27FC236}">
                <a16:creationId xmlns:a16="http://schemas.microsoft.com/office/drawing/2014/main" id="{0BB177E4-7148-4C22-9075-737B156EF833}"/>
              </a:ext>
            </a:extLst>
          </p:cNvPr>
          <p:cNvSpPr>
            <a:spLocks noGrp="1"/>
          </p:cNvSpPr>
          <p:nvPr>
            <p:ph type="body" sz="half" idx="2"/>
          </p:nvPr>
        </p:nvSpPr>
        <p:spPr>
          <a:xfrm>
            <a:off x="2589213" y="5696711"/>
            <a:ext cx="8915399" cy="507189"/>
          </a:xfrm>
        </p:spPr>
        <p:txBody>
          <a:bodyPr vert="horz" lIns="91440" tIns="45720" rIns="91440" bIns="45720" rtlCol="0" anchor="t">
            <a:normAutofit/>
          </a:bodyPr>
          <a:lstStyle/>
          <a:p>
            <a:r>
              <a:rPr lang="en-US" sz="1800" dirty="0">
                <a:solidFill>
                  <a:schemeClr val="tx1">
                    <a:lumMod val="65000"/>
                    <a:lumOff val="35000"/>
                  </a:schemeClr>
                </a:solidFill>
              </a:rPr>
              <a:t>A bin in GStreamer can be treated the same way as an element.</a:t>
            </a:r>
          </a:p>
          <a:p>
            <a:endParaRPr lang="en-US" sz="1800" dirty="0">
              <a:solidFill>
                <a:schemeClr val="tx1">
                  <a:lumMod val="65000"/>
                  <a:lumOff val="35000"/>
                </a:schemeClr>
              </a:solidFill>
            </a:endParaRPr>
          </a:p>
        </p:txBody>
      </p:sp>
      <p:grpSp>
        <p:nvGrpSpPr>
          <p:cNvPr id="98" name="Group 97">
            <a:extLst>
              <a:ext uri="{FF2B5EF4-FFF2-40B4-BE49-F238E27FC236}">
                <a16:creationId xmlns:a16="http://schemas.microsoft.com/office/drawing/2014/main" id="{63803189-8594-468F-8687-002E5E8B7B6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99" name="Freeform 27">
              <a:extLst>
                <a:ext uri="{FF2B5EF4-FFF2-40B4-BE49-F238E27FC236}">
                  <a16:creationId xmlns:a16="http://schemas.microsoft.com/office/drawing/2014/main" id="{524B4BF2-2F49-4ACB-B0E2-C9367EAA65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00" name="Freeform 28">
              <a:extLst>
                <a:ext uri="{FF2B5EF4-FFF2-40B4-BE49-F238E27FC236}">
                  <a16:creationId xmlns:a16="http://schemas.microsoft.com/office/drawing/2014/main" id="{6D8857A3-2939-41D8-9830-288DAFFE49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01" name="Freeform 29">
              <a:extLst>
                <a:ext uri="{FF2B5EF4-FFF2-40B4-BE49-F238E27FC236}">
                  <a16:creationId xmlns:a16="http://schemas.microsoft.com/office/drawing/2014/main" id="{1DA77A5D-B86C-490F-A6C2-288B73BE1A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02" name="Freeform 30">
              <a:extLst>
                <a:ext uri="{FF2B5EF4-FFF2-40B4-BE49-F238E27FC236}">
                  <a16:creationId xmlns:a16="http://schemas.microsoft.com/office/drawing/2014/main" id="{B200D852-4B00-42D7-9528-A84190EC21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03" name="Freeform 31">
              <a:extLst>
                <a:ext uri="{FF2B5EF4-FFF2-40B4-BE49-F238E27FC236}">
                  <a16:creationId xmlns:a16="http://schemas.microsoft.com/office/drawing/2014/main" id="{0B4999C3-4DCD-4DC9-B0E1-2A3C9D066C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04" name="Freeform 32">
              <a:extLst>
                <a:ext uri="{FF2B5EF4-FFF2-40B4-BE49-F238E27FC236}">
                  <a16:creationId xmlns:a16="http://schemas.microsoft.com/office/drawing/2014/main" id="{F0AF3221-F07E-4CD8-8B93-D2F105C8BF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05" name="Freeform 33">
              <a:extLst>
                <a:ext uri="{FF2B5EF4-FFF2-40B4-BE49-F238E27FC236}">
                  <a16:creationId xmlns:a16="http://schemas.microsoft.com/office/drawing/2014/main" id="{E15A4F0C-0F9E-46EA-9B76-2EA0FFC6EC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06" name="Freeform 34">
              <a:extLst>
                <a:ext uri="{FF2B5EF4-FFF2-40B4-BE49-F238E27FC236}">
                  <a16:creationId xmlns:a16="http://schemas.microsoft.com/office/drawing/2014/main" id="{355A262C-C283-4761-8925-91A4CC555E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07" name="Freeform 35">
              <a:extLst>
                <a:ext uri="{FF2B5EF4-FFF2-40B4-BE49-F238E27FC236}">
                  <a16:creationId xmlns:a16="http://schemas.microsoft.com/office/drawing/2014/main" id="{DD2C5D81-744A-49D4-B47B-D7D099AE24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108" name="Freeform 36">
              <a:extLst>
                <a:ext uri="{FF2B5EF4-FFF2-40B4-BE49-F238E27FC236}">
                  <a16:creationId xmlns:a16="http://schemas.microsoft.com/office/drawing/2014/main" id="{BC645DE2-57BB-4AC2-9C43-E446BAEE7E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109" name="Freeform 37">
              <a:extLst>
                <a:ext uri="{FF2B5EF4-FFF2-40B4-BE49-F238E27FC236}">
                  <a16:creationId xmlns:a16="http://schemas.microsoft.com/office/drawing/2014/main" id="{32C6A1B1-3235-401E-95F2-224FBEF10A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110" name="Freeform 38">
              <a:extLst>
                <a:ext uri="{FF2B5EF4-FFF2-40B4-BE49-F238E27FC236}">
                  <a16:creationId xmlns:a16="http://schemas.microsoft.com/office/drawing/2014/main" id="{A9FFDCBF-B36B-4D18-A7AB-A03B7FE484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112" name="Rectangle 111">
            <a:extLst>
              <a:ext uri="{FF2B5EF4-FFF2-40B4-BE49-F238E27FC236}">
                <a16:creationId xmlns:a16="http://schemas.microsoft.com/office/drawing/2014/main" id="{2A8D191A-3D11-434C-93FB-31B29994C4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pic>
        <p:nvPicPr>
          <p:cNvPr id="6" name="Content Placeholder 5">
            <a:extLst>
              <a:ext uri="{FF2B5EF4-FFF2-40B4-BE49-F238E27FC236}">
                <a16:creationId xmlns:a16="http://schemas.microsoft.com/office/drawing/2014/main" id="{502BAA03-6DD4-4595-99D3-C78C390984A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68772" y="931234"/>
            <a:ext cx="2272092" cy="2248112"/>
          </a:xfrm>
          <a:prstGeom prst="rect">
            <a:avLst/>
          </a:prstGeom>
        </p:spPr>
      </p:pic>
      <p:pic>
        <p:nvPicPr>
          <p:cNvPr id="8" name="Picture 7">
            <a:extLst>
              <a:ext uri="{FF2B5EF4-FFF2-40B4-BE49-F238E27FC236}">
                <a16:creationId xmlns:a16="http://schemas.microsoft.com/office/drawing/2014/main" id="{409FF7BA-455C-4594-A1BA-12FC872173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04653" y="541017"/>
            <a:ext cx="7458739" cy="4248067"/>
          </a:xfrm>
          <a:prstGeom prst="rect">
            <a:avLst/>
          </a:prstGeom>
        </p:spPr>
      </p:pic>
      <p:sp>
        <p:nvSpPr>
          <p:cNvPr id="114" name="Freeform 33">
            <a:extLst>
              <a:ext uri="{FF2B5EF4-FFF2-40B4-BE49-F238E27FC236}">
                <a16:creationId xmlns:a16="http://schemas.microsoft.com/office/drawing/2014/main" id="{455BD04C-4A30-4227-8646-D5CA42252AD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588986"/>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10" name="TextBox 9">
            <a:extLst>
              <a:ext uri="{FF2B5EF4-FFF2-40B4-BE49-F238E27FC236}">
                <a16:creationId xmlns:a16="http://schemas.microsoft.com/office/drawing/2014/main" id="{74622C69-24F4-4442-8D0B-3568834431BD}"/>
              </a:ext>
            </a:extLst>
          </p:cNvPr>
          <p:cNvSpPr txBox="1"/>
          <p:nvPr/>
        </p:nvSpPr>
        <p:spPr>
          <a:xfrm>
            <a:off x="1687482" y="3429000"/>
            <a:ext cx="2552183" cy="646331"/>
          </a:xfrm>
          <a:prstGeom prst="rect">
            <a:avLst/>
          </a:prstGeom>
          <a:noFill/>
        </p:spPr>
        <p:txBody>
          <a:bodyPr wrap="square" rtlCol="0">
            <a:spAutoFit/>
          </a:bodyPr>
          <a:lstStyle/>
          <a:p>
            <a:r>
              <a:rPr lang="en-CA" dirty="0">
                <a:hlinkClick r:id="rId4" action="ppaction://hlinkfile"/>
              </a:rPr>
              <a:t>Compare to DOT file</a:t>
            </a:r>
          </a:p>
          <a:p>
            <a:endParaRPr lang="en-US" dirty="0"/>
          </a:p>
        </p:txBody>
      </p:sp>
    </p:spTree>
    <p:extLst>
      <p:ext uri="{BB962C8B-B14F-4D97-AF65-F5344CB8AC3E}">
        <p14:creationId xmlns:p14="http://schemas.microsoft.com/office/powerpoint/2010/main" val="6097934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Element Communication </a:t>
            </a:r>
          </a:p>
        </p:txBody>
      </p:sp>
      <p:sp>
        <p:nvSpPr>
          <p:cNvPr id="3" name="Content Placeholder 2"/>
          <p:cNvSpPr>
            <a:spLocks noGrp="1"/>
          </p:cNvSpPr>
          <p:nvPr>
            <p:ph idx="1"/>
          </p:nvPr>
        </p:nvSpPr>
        <p:spPr/>
        <p:txBody>
          <a:bodyPr>
            <a:normAutofit fontScale="92500" lnSpcReduction="20000"/>
          </a:bodyPr>
          <a:lstStyle/>
          <a:p>
            <a:r>
              <a:rPr lang="en-CA" dirty="0"/>
              <a:t>Properties</a:t>
            </a:r>
          </a:p>
          <a:p>
            <a:pPr lvl="1"/>
            <a:r>
              <a:rPr lang="en-CA" dirty="0"/>
              <a:t>gst-launch-1.0 -e trackbin </a:t>
            </a:r>
            <a:r>
              <a:rPr lang="en-CA" b="1" dirty="0"/>
              <a:t>connect-to</a:t>
            </a:r>
            <a:r>
              <a:rPr lang="en-CA" dirty="0"/>
              <a:t>=P9-00311.local </a:t>
            </a:r>
            <a:r>
              <a:rPr lang="en-CA" b="1" dirty="0" err="1"/>
              <a:t>rtsp</a:t>
            </a:r>
            <a:r>
              <a:rPr lang="en-CA" b="1" dirty="0"/>
              <a:t>-port</a:t>
            </a:r>
            <a:r>
              <a:rPr lang="en-CA" dirty="0"/>
              <a:t>=554</a:t>
            </a:r>
          </a:p>
          <a:p>
            <a:pPr lvl="1"/>
            <a:r>
              <a:rPr lang="en-CA" dirty="0"/>
              <a:t>“tool-tracker” created in trackbin, set in tracksrc as property</a:t>
            </a:r>
          </a:p>
          <a:p>
            <a:pPr lvl="2"/>
            <a:r>
              <a:rPr lang="en-CA" dirty="0"/>
              <a:t>GST object type, see </a:t>
            </a:r>
            <a:r>
              <a:rPr lang="en-CA" dirty="0" err="1"/>
              <a:t>tooltracker.h</a:t>
            </a:r>
            <a:endParaRPr lang="en-CA" dirty="0"/>
          </a:p>
          <a:p>
            <a:r>
              <a:rPr lang="en-CA" dirty="0"/>
              <a:t>Buffers</a:t>
            </a:r>
          </a:p>
          <a:p>
            <a:pPr lvl="1"/>
            <a:r>
              <a:rPr lang="en-CA" dirty="0"/>
              <a:t>Track data</a:t>
            </a:r>
          </a:p>
          <a:p>
            <a:r>
              <a:rPr lang="en-CA" dirty="0"/>
              <a:t>Events</a:t>
            </a:r>
          </a:p>
          <a:p>
            <a:pPr lvl="1"/>
            <a:r>
              <a:rPr lang="en-CA" dirty="0"/>
              <a:t>Pass information from the tracksrc to the trackoverlay</a:t>
            </a:r>
          </a:p>
          <a:p>
            <a:pPr lvl="2"/>
            <a:r>
              <a:rPr lang="en-CA" dirty="0"/>
              <a:t>Lens parameters</a:t>
            </a:r>
          </a:p>
          <a:p>
            <a:pPr lvl="3"/>
            <a:r>
              <a:rPr lang="en-CA" dirty="0"/>
              <a:t>See </a:t>
            </a:r>
            <a:r>
              <a:rPr lang="en-CA" dirty="0" err="1"/>
              <a:t>lensparam.h</a:t>
            </a:r>
            <a:endParaRPr lang="en-CA" dirty="0"/>
          </a:p>
          <a:p>
            <a:pPr lvl="2"/>
            <a:r>
              <a:rPr lang="en-CA" dirty="0"/>
              <a:t>Sample Frequency</a:t>
            </a:r>
          </a:p>
          <a:p>
            <a:r>
              <a:rPr lang="en-CA" dirty="0">
                <a:hlinkClick r:id="rId2"/>
              </a:rPr>
              <a:t>Messages and Queries</a:t>
            </a:r>
            <a:r>
              <a:rPr lang="en-CA" dirty="0"/>
              <a:t> (not utilized for NDI elements)</a:t>
            </a:r>
          </a:p>
          <a:p>
            <a:endParaRPr lang="en-CA" dirty="0"/>
          </a:p>
        </p:txBody>
      </p:sp>
    </p:spTree>
    <p:extLst>
      <p:ext uri="{BB962C8B-B14F-4D97-AF65-F5344CB8AC3E}">
        <p14:creationId xmlns:p14="http://schemas.microsoft.com/office/powerpoint/2010/main" val="14435262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20000"/>
              </a:schemeClr>
            </a:gs>
            <a:gs pos="100000">
              <a:schemeClr val="bg2">
                <a:shade val="98000"/>
                <a:satMod val="120000"/>
                <a:lumMod val="98000"/>
              </a:schemeClr>
            </a:gs>
          </a:gsLst>
          <a:lin ang="54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70163-108A-410A-8A99-087B471EC7C5}"/>
              </a:ext>
            </a:extLst>
          </p:cNvPr>
          <p:cNvSpPr>
            <a:spLocks noGrp="1"/>
          </p:cNvSpPr>
          <p:nvPr>
            <p:ph type="title"/>
          </p:nvPr>
        </p:nvSpPr>
        <p:spPr>
          <a:xfrm>
            <a:off x="1687669" y="326207"/>
            <a:ext cx="6901160" cy="1280890"/>
          </a:xfrm>
        </p:spPr>
        <p:txBody>
          <a:bodyPr>
            <a:normAutofit/>
          </a:bodyPr>
          <a:lstStyle/>
          <a:p>
            <a:r>
              <a:rPr lang="en-US" sz="3200" dirty="0"/>
              <a:t>Matching Track Data to Video</a:t>
            </a:r>
          </a:p>
        </p:txBody>
      </p:sp>
      <p:pic>
        <p:nvPicPr>
          <p:cNvPr id="8" name="Content Placeholder 4">
            <a:extLst>
              <a:ext uri="{FF2B5EF4-FFF2-40B4-BE49-F238E27FC236}">
                <a16:creationId xmlns:a16="http://schemas.microsoft.com/office/drawing/2014/main" id="{6D25529D-C2F0-438E-9CB5-513736BA11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60990" y="1400012"/>
            <a:ext cx="9660154" cy="5457987"/>
          </a:xfrm>
          <a:prstGeom prst="rect">
            <a:avLst/>
          </a:prstGeom>
        </p:spPr>
      </p:pic>
    </p:spTree>
    <p:extLst>
      <p:ext uri="{BB962C8B-B14F-4D97-AF65-F5344CB8AC3E}">
        <p14:creationId xmlns:p14="http://schemas.microsoft.com/office/powerpoint/2010/main" val="28437103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lumMod val="120000"/>
              </a:schemeClr>
            </a:gs>
            <a:gs pos="100000">
              <a:schemeClr val="bg2">
                <a:shade val="98000"/>
                <a:satMod val="120000"/>
                <a:lumMod val="98000"/>
              </a:schemeClr>
            </a:gs>
          </a:gsLst>
          <a:lin ang="5400000" scaled="0"/>
        </a:gra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F27737A0-D7E0-4415-8E90-FD4F69E76C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2" name="Freeform 11">
              <a:extLst>
                <a:ext uri="{FF2B5EF4-FFF2-40B4-BE49-F238E27FC236}">
                  <a16:creationId xmlns:a16="http://schemas.microsoft.com/office/drawing/2014/main" id="{506CE375-B39D-4C51-A858-F4A3833110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3" name="Freeform 12">
              <a:extLst>
                <a:ext uri="{FF2B5EF4-FFF2-40B4-BE49-F238E27FC236}">
                  <a16:creationId xmlns:a16="http://schemas.microsoft.com/office/drawing/2014/main" id="{64EA8B46-395C-41F6-BE09-548B108098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4" name="Freeform 13">
              <a:extLst>
                <a:ext uri="{FF2B5EF4-FFF2-40B4-BE49-F238E27FC236}">
                  <a16:creationId xmlns:a16="http://schemas.microsoft.com/office/drawing/2014/main" id="{BC7EDC6D-8B00-48D9-B8FD-9B5285FBCE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5" name="Freeform 14">
              <a:extLst>
                <a:ext uri="{FF2B5EF4-FFF2-40B4-BE49-F238E27FC236}">
                  <a16:creationId xmlns:a16="http://schemas.microsoft.com/office/drawing/2014/main" id="{DE4BD3C3-5C1B-4305-BFA1-9054820BDDA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6" name="Freeform 15">
              <a:extLst>
                <a:ext uri="{FF2B5EF4-FFF2-40B4-BE49-F238E27FC236}">
                  <a16:creationId xmlns:a16="http://schemas.microsoft.com/office/drawing/2014/main" id="{4635ED79-E821-4CFD-9F97-D6137E5DCA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7" name="Freeform 16">
              <a:extLst>
                <a:ext uri="{FF2B5EF4-FFF2-40B4-BE49-F238E27FC236}">
                  <a16:creationId xmlns:a16="http://schemas.microsoft.com/office/drawing/2014/main" id="{92FD5F9A-0D1B-4304-AC95-EA6A4E70E4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18" name="Freeform 17">
              <a:extLst>
                <a:ext uri="{FF2B5EF4-FFF2-40B4-BE49-F238E27FC236}">
                  <a16:creationId xmlns:a16="http://schemas.microsoft.com/office/drawing/2014/main" id="{E9BB96F9-6F99-413C-909E-6FCF017C1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19" name="Freeform 18">
              <a:extLst>
                <a:ext uri="{FF2B5EF4-FFF2-40B4-BE49-F238E27FC236}">
                  <a16:creationId xmlns:a16="http://schemas.microsoft.com/office/drawing/2014/main" id="{1CCAEE3F-DFD6-4F56-91DF-94C715261B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20" name="Freeform 19">
              <a:extLst>
                <a:ext uri="{FF2B5EF4-FFF2-40B4-BE49-F238E27FC236}">
                  <a16:creationId xmlns:a16="http://schemas.microsoft.com/office/drawing/2014/main" id="{A9965128-6557-433B-B75B-BDF3073111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21" name="Freeform 20">
              <a:extLst>
                <a:ext uri="{FF2B5EF4-FFF2-40B4-BE49-F238E27FC236}">
                  <a16:creationId xmlns:a16="http://schemas.microsoft.com/office/drawing/2014/main" id="{6ACA7D22-11B5-4768-B195-51BF6E7C16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22" name="Freeform 21">
              <a:extLst>
                <a:ext uri="{FF2B5EF4-FFF2-40B4-BE49-F238E27FC236}">
                  <a16:creationId xmlns:a16="http://schemas.microsoft.com/office/drawing/2014/main" id="{A10AD997-8BE7-4F95-8B7C-4E59DA1AC5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3" name="Freeform 22">
              <a:extLst>
                <a:ext uri="{FF2B5EF4-FFF2-40B4-BE49-F238E27FC236}">
                  <a16:creationId xmlns:a16="http://schemas.microsoft.com/office/drawing/2014/main" id="{DE270B5A-1647-4C9C-BA5F-6BC559F869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25" name="Group 24">
            <a:extLst>
              <a:ext uri="{FF2B5EF4-FFF2-40B4-BE49-F238E27FC236}">
                <a16:creationId xmlns:a16="http://schemas.microsoft.com/office/drawing/2014/main" id="{57D8AB18-1DD7-4D60-B9FA-190B47BB267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157"/>
            <a:ext cx="2356675" cy="6853096"/>
            <a:chOff x="6627813" y="195610"/>
            <a:chExt cx="1952625" cy="5678141"/>
          </a:xfrm>
        </p:grpSpPr>
        <p:sp>
          <p:nvSpPr>
            <p:cNvPr id="26" name="Freeform 27">
              <a:extLst>
                <a:ext uri="{FF2B5EF4-FFF2-40B4-BE49-F238E27FC236}">
                  <a16:creationId xmlns:a16="http://schemas.microsoft.com/office/drawing/2014/main" id="{AE3C8994-22F6-4B7D-B50B-80ECD1E2AF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27" name="Freeform 28">
              <a:extLst>
                <a:ext uri="{FF2B5EF4-FFF2-40B4-BE49-F238E27FC236}">
                  <a16:creationId xmlns:a16="http://schemas.microsoft.com/office/drawing/2014/main" id="{DDCDE2FF-5BFC-4807-AB1E-D6928F8F46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28" name="Freeform 29">
              <a:extLst>
                <a:ext uri="{FF2B5EF4-FFF2-40B4-BE49-F238E27FC236}">
                  <a16:creationId xmlns:a16="http://schemas.microsoft.com/office/drawing/2014/main" id="{63EF93F1-6EAF-4409-A623-76533740E1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29" name="Freeform 30">
              <a:extLst>
                <a:ext uri="{FF2B5EF4-FFF2-40B4-BE49-F238E27FC236}">
                  <a16:creationId xmlns:a16="http://schemas.microsoft.com/office/drawing/2014/main" id="{ED3B5256-3F5C-4FDE-8A9A-5A124E92BA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30" name="Freeform 31">
              <a:extLst>
                <a:ext uri="{FF2B5EF4-FFF2-40B4-BE49-F238E27FC236}">
                  <a16:creationId xmlns:a16="http://schemas.microsoft.com/office/drawing/2014/main" id="{ED5D4282-BFB9-4BFC-A20D-18E1C4EEA6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31" name="Freeform 32">
              <a:extLst>
                <a:ext uri="{FF2B5EF4-FFF2-40B4-BE49-F238E27FC236}">
                  <a16:creationId xmlns:a16="http://schemas.microsoft.com/office/drawing/2014/main" id="{3E6394EB-0752-433A-BA70-AF42B45F17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32" name="Freeform 33">
              <a:extLst>
                <a:ext uri="{FF2B5EF4-FFF2-40B4-BE49-F238E27FC236}">
                  <a16:creationId xmlns:a16="http://schemas.microsoft.com/office/drawing/2014/main" id="{DF27BE5F-DA8D-4260-9D0D-69E9CE1469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33" name="Freeform 34">
              <a:extLst>
                <a:ext uri="{FF2B5EF4-FFF2-40B4-BE49-F238E27FC236}">
                  <a16:creationId xmlns:a16="http://schemas.microsoft.com/office/drawing/2014/main" id="{9A6E5CBE-AE54-40B7-9A00-E3975FEACB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4" name="Freeform 35">
              <a:extLst>
                <a:ext uri="{FF2B5EF4-FFF2-40B4-BE49-F238E27FC236}">
                  <a16:creationId xmlns:a16="http://schemas.microsoft.com/office/drawing/2014/main" id="{6C307890-5461-4D51-ADA6-A3DA6D35B8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5" name="Freeform 36">
              <a:extLst>
                <a:ext uri="{FF2B5EF4-FFF2-40B4-BE49-F238E27FC236}">
                  <a16:creationId xmlns:a16="http://schemas.microsoft.com/office/drawing/2014/main" id="{3F9B7E4B-6412-4B97-AD48-30B1F61F3B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6" name="Freeform 37">
              <a:extLst>
                <a:ext uri="{FF2B5EF4-FFF2-40B4-BE49-F238E27FC236}">
                  <a16:creationId xmlns:a16="http://schemas.microsoft.com/office/drawing/2014/main" id="{D345D359-869B-4305-B7D7-0B5C4FDEC1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37" name="Freeform 38">
              <a:extLst>
                <a:ext uri="{FF2B5EF4-FFF2-40B4-BE49-F238E27FC236}">
                  <a16:creationId xmlns:a16="http://schemas.microsoft.com/office/drawing/2014/main" id="{2F688B27-AEB8-45BD-9597-78A97EE0DD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39" name="Rectangle 38">
            <a:extLst>
              <a:ext uri="{FF2B5EF4-FFF2-40B4-BE49-F238E27FC236}">
                <a16:creationId xmlns:a16="http://schemas.microsoft.com/office/drawing/2014/main" id="{4EB21FA6-8B6A-4699-8408-91E699800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41" name="Freeform 11">
            <a:extLst>
              <a:ext uri="{FF2B5EF4-FFF2-40B4-BE49-F238E27FC236}">
                <a16:creationId xmlns:a16="http://schemas.microsoft.com/office/drawing/2014/main" id="{664D6319-AE80-458F-A2C6-1F0351266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2" name="Title 1">
            <a:extLst>
              <a:ext uri="{FF2B5EF4-FFF2-40B4-BE49-F238E27FC236}">
                <a16:creationId xmlns:a16="http://schemas.microsoft.com/office/drawing/2014/main" id="{1B84C743-E539-44CD-A32C-B1FEB787FC71}"/>
              </a:ext>
            </a:extLst>
          </p:cNvPr>
          <p:cNvSpPr>
            <a:spLocks noGrp="1"/>
          </p:cNvSpPr>
          <p:nvPr>
            <p:ph type="title"/>
          </p:nvPr>
        </p:nvSpPr>
        <p:spPr>
          <a:xfrm>
            <a:off x="1687669" y="624110"/>
            <a:ext cx="4137059" cy="1280890"/>
          </a:xfrm>
        </p:spPr>
        <p:txBody>
          <a:bodyPr vert="horz" lIns="91440" tIns="45720" rIns="91440" bIns="45720" rtlCol="0" anchor="t">
            <a:normAutofit/>
          </a:bodyPr>
          <a:lstStyle/>
          <a:p>
            <a:r>
              <a:rPr lang="en-US" sz="3200"/>
              <a:t>Track Data</a:t>
            </a:r>
          </a:p>
        </p:txBody>
      </p:sp>
      <p:sp>
        <p:nvSpPr>
          <p:cNvPr id="4" name="Text Placeholder 3">
            <a:extLst>
              <a:ext uri="{FF2B5EF4-FFF2-40B4-BE49-F238E27FC236}">
                <a16:creationId xmlns:a16="http://schemas.microsoft.com/office/drawing/2014/main" id="{78EA8FE7-46AE-4EF0-8430-DA4C2D4FA8E4}"/>
              </a:ext>
            </a:extLst>
          </p:cNvPr>
          <p:cNvSpPr>
            <a:spLocks noGrp="1"/>
          </p:cNvSpPr>
          <p:nvPr>
            <p:ph type="body" sz="half" idx="2"/>
          </p:nvPr>
        </p:nvSpPr>
        <p:spPr>
          <a:xfrm>
            <a:off x="1683956" y="2133600"/>
            <a:ext cx="4140772" cy="3777622"/>
          </a:xfrm>
        </p:spPr>
        <p:txBody>
          <a:bodyPr vert="horz" lIns="91440" tIns="45720" rIns="91440" bIns="45720" rtlCol="0">
            <a:normAutofit/>
          </a:bodyPr>
          <a:lstStyle/>
          <a:p>
            <a:pPr>
              <a:buFont typeface="Wingdings 3" charset="2"/>
              <a:buChar char=""/>
            </a:pPr>
            <a:r>
              <a:rPr lang="en-US" sz="1600" dirty="0">
                <a:solidFill>
                  <a:srgbClr val="000000"/>
                </a:solidFill>
              </a:rPr>
              <a:t>Makes use of </a:t>
            </a:r>
            <a:r>
              <a:rPr lang="en-US" sz="1600" dirty="0">
                <a:solidFill>
                  <a:srgbClr val="000000"/>
                </a:solidFill>
                <a:hlinkClick r:id="rId2"/>
              </a:rPr>
              <a:t>Google Flatbuffers</a:t>
            </a:r>
            <a:endParaRPr lang="en-US" sz="1600" dirty="0">
              <a:solidFill>
                <a:srgbClr val="000000"/>
              </a:solidFill>
            </a:endParaRPr>
          </a:p>
          <a:p>
            <a:pPr>
              <a:buFont typeface="Wingdings 3" charset="2"/>
              <a:buChar char=""/>
            </a:pPr>
            <a:r>
              <a:rPr lang="en-US" sz="1600" dirty="0">
                <a:solidFill>
                  <a:srgbClr val="000000"/>
                </a:solidFill>
                <a:hlinkClick r:id="rId3"/>
              </a:rPr>
              <a:t>Improving Facebook’s performance on Android with </a:t>
            </a:r>
            <a:r>
              <a:rPr lang="en-US" sz="1600" dirty="0" err="1">
                <a:solidFill>
                  <a:srgbClr val="000000"/>
                </a:solidFill>
                <a:hlinkClick r:id="rId3"/>
              </a:rPr>
              <a:t>FlatBuffers</a:t>
            </a:r>
            <a:endParaRPr lang="en-US" sz="1600" dirty="0">
              <a:solidFill>
                <a:srgbClr val="000000"/>
              </a:solidFill>
            </a:endParaRPr>
          </a:p>
          <a:p>
            <a:pPr>
              <a:buFont typeface="Wingdings 3" charset="2"/>
              <a:buChar char=""/>
            </a:pPr>
            <a:r>
              <a:rPr lang="en-US" sz="1600" dirty="0">
                <a:solidFill>
                  <a:srgbClr val="000000"/>
                </a:solidFill>
                <a:hlinkClick r:id="rId4" action="ppaction://hlinkfile"/>
              </a:rPr>
              <a:t>flattooldata.txt</a:t>
            </a:r>
            <a:endParaRPr lang="en-US" sz="1600" dirty="0">
              <a:solidFill>
                <a:srgbClr val="000000"/>
              </a:solidFill>
            </a:endParaRPr>
          </a:p>
        </p:txBody>
      </p:sp>
      <p:pic>
        <p:nvPicPr>
          <p:cNvPr id="6" name="Content Placeholder 5">
            <a:extLst>
              <a:ext uri="{FF2B5EF4-FFF2-40B4-BE49-F238E27FC236}">
                <a16:creationId xmlns:a16="http://schemas.microsoft.com/office/drawing/2014/main" id="{35B5969F-0D12-463A-BCEC-AF9805C0F555}"/>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5755437" y="1172687"/>
            <a:ext cx="5582369" cy="4186776"/>
          </a:xfrm>
          <a:prstGeom prst="rect">
            <a:avLst/>
          </a:prstGeom>
        </p:spPr>
      </p:pic>
    </p:spTree>
    <p:extLst>
      <p:ext uri="{BB962C8B-B14F-4D97-AF65-F5344CB8AC3E}">
        <p14:creationId xmlns:p14="http://schemas.microsoft.com/office/powerpoint/2010/main" val="379591610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NDI Elements in use</a:t>
            </a:r>
          </a:p>
        </p:txBody>
      </p:sp>
      <p:sp>
        <p:nvSpPr>
          <p:cNvPr id="3" name="Content Placeholder 2"/>
          <p:cNvSpPr>
            <a:spLocks noGrp="1"/>
          </p:cNvSpPr>
          <p:nvPr>
            <p:ph idx="1"/>
          </p:nvPr>
        </p:nvSpPr>
        <p:spPr/>
        <p:txBody>
          <a:bodyPr>
            <a:normAutofit fontScale="70000" lnSpcReduction="20000"/>
          </a:bodyPr>
          <a:lstStyle/>
          <a:p>
            <a:r>
              <a:rPr lang="en-CA" dirty="0"/>
              <a:t>Run application</a:t>
            </a:r>
          </a:p>
          <a:p>
            <a:pPr lvl="1">
              <a:spcBef>
                <a:spcPts val="0"/>
              </a:spcBef>
            </a:pPr>
            <a:r>
              <a:rPr lang="en-CA" dirty="0">
                <a:solidFill>
                  <a:schemeClr val="accent2">
                    <a:lumMod val="50000"/>
                  </a:schemeClr>
                </a:solidFill>
                <a:latin typeface="Consolas" panose="020B0609020204030204" pitchFamily="49" charset="0"/>
              </a:rPr>
              <a:t>vrdemo.exe "P9-00311.local" "C:/work/Tools/" "8700339.rom" "554"</a:t>
            </a:r>
            <a:endParaRPr lang="en-CA" dirty="0">
              <a:solidFill>
                <a:schemeClr val="accent2">
                  <a:lumMod val="50000"/>
                </a:schemeClr>
              </a:solidFill>
            </a:endParaRPr>
          </a:p>
          <a:p>
            <a:r>
              <a:rPr lang="en-CA" dirty="0" err="1"/>
              <a:t>gstlaunch</a:t>
            </a:r>
            <a:endParaRPr lang="en-CA" dirty="0"/>
          </a:p>
          <a:p>
            <a:pPr lvl="1">
              <a:spcBef>
                <a:spcPts val="0"/>
              </a:spcBef>
            </a:pPr>
            <a:r>
              <a:rPr lang="en-CA" dirty="0">
                <a:solidFill>
                  <a:schemeClr val="accent2">
                    <a:lumMod val="50000"/>
                  </a:schemeClr>
                </a:solidFill>
                <a:latin typeface="Consolas" panose="020B0609020204030204" pitchFamily="49" charset="0"/>
              </a:rPr>
              <a:t>gst-launch-1.0 trackbin connect-to=P9-00311.local </a:t>
            </a:r>
            <a:r>
              <a:rPr lang="en-CA" dirty="0" err="1">
                <a:solidFill>
                  <a:schemeClr val="accent2">
                    <a:lumMod val="50000"/>
                  </a:schemeClr>
                </a:solidFill>
                <a:latin typeface="Consolas" panose="020B0609020204030204" pitchFamily="49" charset="0"/>
              </a:rPr>
              <a:t>rtsp</a:t>
            </a:r>
            <a:r>
              <a:rPr lang="en-CA" dirty="0">
                <a:solidFill>
                  <a:schemeClr val="accent2">
                    <a:lumMod val="50000"/>
                  </a:schemeClr>
                </a:solidFill>
                <a:latin typeface="Consolas" panose="020B0609020204030204" pitchFamily="49" charset="0"/>
              </a:rPr>
              <a:t>-port=554 tool-location=C:/work/Tools/ tool-file=8700339.rom name=</a:t>
            </a:r>
            <a:r>
              <a:rPr lang="en-CA" dirty="0" err="1">
                <a:solidFill>
                  <a:schemeClr val="accent2">
                    <a:lumMod val="50000"/>
                  </a:schemeClr>
                </a:solidFill>
                <a:latin typeface="Consolas" panose="020B0609020204030204" pitchFamily="49" charset="0"/>
              </a:rPr>
              <a:t>VegaTrackBin</a:t>
            </a:r>
            <a:r>
              <a:rPr lang="en-CA" dirty="0">
                <a:solidFill>
                  <a:schemeClr val="accent2">
                    <a:lumMod val="50000"/>
                  </a:schemeClr>
                </a:solidFill>
                <a:latin typeface="Consolas" panose="020B0609020204030204" pitchFamily="49" charset="0"/>
              </a:rPr>
              <a:t> ! </a:t>
            </a:r>
            <a:r>
              <a:rPr lang="en-CA" dirty="0" err="1">
                <a:solidFill>
                  <a:schemeClr val="accent2">
                    <a:lumMod val="50000"/>
                  </a:schemeClr>
                </a:solidFill>
                <a:latin typeface="Consolas" panose="020B0609020204030204" pitchFamily="49" charset="0"/>
              </a:rPr>
              <a:t>autovideosink</a:t>
            </a:r>
            <a:r>
              <a:rPr lang="en-CA" dirty="0">
                <a:solidFill>
                  <a:schemeClr val="accent2">
                    <a:lumMod val="50000"/>
                  </a:schemeClr>
                </a:solidFill>
                <a:latin typeface="Consolas" panose="020B0609020204030204" pitchFamily="49" charset="0"/>
              </a:rPr>
              <a:t> sync=false name=</a:t>
            </a:r>
            <a:r>
              <a:rPr lang="en-CA" dirty="0" err="1">
                <a:solidFill>
                  <a:schemeClr val="accent2">
                    <a:lumMod val="50000"/>
                  </a:schemeClr>
                </a:solidFill>
                <a:latin typeface="Consolas" panose="020B0609020204030204" pitchFamily="49" charset="0"/>
              </a:rPr>
              <a:t>VideoDisplay</a:t>
            </a:r>
            <a:endParaRPr lang="en-CA" dirty="0">
              <a:solidFill>
                <a:schemeClr val="accent2">
                  <a:lumMod val="50000"/>
                </a:schemeClr>
              </a:solidFill>
            </a:endParaRPr>
          </a:p>
          <a:p>
            <a:pPr lvl="1"/>
            <a:r>
              <a:rPr lang="en-CA" dirty="0">
                <a:hlinkClick r:id="rId2" action="ppaction://hlinkfile"/>
              </a:rPr>
              <a:t>Dot file</a:t>
            </a:r>
          </a:p>
          <a:p>
            <a:r>
              <a:rPr lang="en-CA" dirty="0"/>
              <a:t>Capture to file</a:t>
            </a:r>
          </a:p>
          <a:p>
            <a:pPr lvl="1"/>
            <a:r>
              <a:rPr lang="en-CA" dirty="0">
                <a:solidFill>
                  <a:schemeClr val="accent2">
                    <a:lumMod val="50000"/>
                  </a:schemeClr>
                </a:solidFill>
                <a:latin typeface="Consolas" panose="020B0609020204030204" pitchFamily="49" charset="0"/>
              </a:rPr>
              <a:t>gst-launch-1.0 -e trackbin connect-to=P9-00311.local </a:t>
            </a:r>
            <a:r>
              <a:rPr lang="en-CA" dirty="0" err="1">
                <a:solidFill>
                  <a:schemeClr val="accent2">
                    <a:lumMod val="50000"/>
                  </a:schemeClr>
                </a:solidFill>
                <a:latin typeface="Consolas" panose="020B0609020204030204" pitchFamily="49" charset="0"/>
              </a:rPr>
              <a:t>rtsp</a:t>
            </a:r>
            <a:r>
              <a:rPr lang="en-CA" dirty="0">
                <a:solidFill>
                  <a:schemeClr val="accent2">
                    <a:lumMod val="50000"/>
                  </a:schemeClr>
                </a:solidFill>
                <a:latin typeface="Consolas" panose="020B0609020204030204" pitchFamily="49" charset="0"/>
              </a:rPr>
              <a:t>-port=554 tool-location=C:/work/Tools/ tool-file=8700339.rom name=</a:t>
            </a:r>
            <a:r>
              <a:rPr lang="en-CA" dirty="0" err="1">
                <a:solidFill>
                  <a:schemeClr val="accent2">
                    <a:lumMod val="50000"/>
                  </a:schemeClr>
                </a:solidFill>
                <a:latin typeface="Consolas" panose="020B0609020204030204" pitchFamily="49" charset="0"/>
              </a:rPr>
              <a:t>VegaTrackBin</a:t>
            </a:r>
            <a:r>
              <a:rPr lang="en-CA" dirty="0">
                <a:solidFill>
                  <a:schemeClr val="accent2">
                    <a:lumMod val="50000"/>
                  </a:schemeClr>
                </a:solidFill>
                <a:latin typeface="Consolas" panose="020B0609020204030204" pitchFamily="49" charset="0"/>
              </a:rPr>
              <a:t> ! queue !  x264enc speed-</a:t>
            </a:r>
            <a:r>
              <a:rPr lang="en-CA" dirty="0" err="1">
                <a:solidFill>
                  <a:schemeClr val="accent2">
                    <a:lumMod val="50000"/>
                  </a:schemeClr>
                </a:solidFill>
                <a:latin typeface="Consolas" panose="020B0609020204030204" pitchFamily="49" charset="0"/>
              </a:rPr>
              <a:t>preset</a:t>
            </a:r>
            <a:r>
              <a:rPr lang="en-CA" dirty="0">
                <a:solidFill>
                  <a:schemeClr val="accent2">
                    <a:lumMod val="50000"/>
                  </a:schemeClr>
                </a:solidFill>
                <a:latin typeface="Consolas" panose="020B0609020204030204" pitchFamily="49" charset="0"/>
              </a:rPr>
              <a:t>=ultrafast ! queue ! h264parse ! mp4mux ! </a:t>
            </a:r>
            <a:r>
              <a:rPr lang="en-CA" dirty="0" err="1">
                <a:solidFill>
                  <a:schemeClr val="accent2">
                    <a:lumMod val="50000"/>
                  </a:schemeClr>
                </a:solidFill>
                <a:latin typeface="Consolas" panose="020B0609020204030204" pitchFamily="49" charset="0"/>
              </a:rPr>
              <a:t>filesink</a:t>
            </a:r>
            <a:r>
              <a:rPr lang="en-CA" dirty="0">
                <a:solidFill>
                  <a:schemeClr val="accent2">
                    <a:lumMod val="50000"/>
                  </a:schemeClr>
                </a:solidFill>
                <a:latin typeface="Consolas" panose="020B0609020204030204" pitchFamily="49" charset="0"/>
              </a:rPr>
              <a:t> sync=false location=c:/work/media/nativetest7.mp4</a:t>
            </a:r>
          </a:p>
          <a:p>
            <a:pPr lvl="1"/>
            <a:r>
              <a:rPr lang="en-CA" dirty="0">
                <a:hlinkClick r:id="rId3" action="ppaction://hlinkfile"/>
              </a:rPr>
              <a:t>captured file</a:t>
            </a:r>
            <a:endParaRPr lang="en-CA" dirty="0"/>
          </a:p>
          <a:p>
            <a:r>
              <a:rPr lang="en-CA" dirty="0"/>
              <a:t>Playback</a:t>
            </a:r>
          </a:p>
          <a:p>
            <a:pPr lvl="1"/>
            <a:r>
              <a:rPr lang="en-CA" dirty="0">
                <a:solidFill>
                  <a:schemeClr val="accent2">
                    <a:lumMod val="50000"/>
                  </a:schemeClr>
                </a:solidFill>
              </a:rPr>
              <a:t>gst-launch-1.0 </a:t>
            </a:r>
            <a:r>
              <a:rPr lang="en-CA" dirty="0" err="1">
                <a:solidFill>
                  <a:schemeClr val="accent2">
                    <a:lumMod val="50000"/>
                  </a:schemeClr>
                </a:solidFill>
              </a:rPr>
              <a:t>filesrc</a:t>
            </a:r>
            <a:r>
              <a:rPr lang="en-CA" dirty="0">
                <a:solidFill>
                  <a:schemeClr val="accent2">
                    <a:lumMod val="50000"/>
                  </a:schemeClr>
                </a:solidFill>
              </a:rPr>
              <a:t> location=C:/work/media/nativetest10-cut.mp4 ! </a:t>
            </a:r>
            <a:r>
              <a:rPr lang="en-CA" dirty="0" err="1">
                <a:solidFill>
                  <a:schemeClr val="accent2">
                    <a:lumMod val="50000"/>
                  </a:schemeClr>
                </a:solidFill>
              </a:rPr>
              <a:t>decodebin</a:t>
            </a:r>
            <a:r>
              <a:rPr lang="en-CA" dirty="0">
                <a:solidFill>
                  <a:schemeClr val="accent2">
                    <a:lumMod val="50000"/>
                  </a:schemeClr>
                </a:solidFill>
              </a:rPr>
              <a:t> name=</a:t>
            </a:r>
            <a:r>
              <a:rPr lang="en-CA" dirty="0" err="1">
                <a:solidFill>
                  <a:schemeClr val="accent2">
                    <a:lumMod val="50000"/>
                  </a:schemeClr>
                </a:solidFill>
              </a:rPr>
              <a:t>dec</a:t>
            </a:r>
            <a:r>
              <a:rPr lang="en-CA" dirty="0">
                <a:solidFill>
                  <a:schemeClr val="accent2">
                    <a:lumMod val="50000"/>
                  </a:schemeClr>
                </a:solidFill>
              </a:rPr>
              <a:t> ! queue ! </a:t>
            </a:r>
            <a:r>
              <a:rPr lang="en-CA" dirty="0" err="1">
                <a:solidFill>
                  <a:schemeClr val="accent2">
                    <a:lumMod val="50000"/>
                  </a:schemeClr>
                </a:solidFill>
              </a:rPr>
              <a:t>videoconvert</a:t>
            </a:r>
            <a:r>
              <a:rPr lang="en-CA" dirty="0">
                <a:solidFill>
                  <a:schemeClr val="accent2">
                    <a:lumMod val="50000"/>
                  </a:schemeClr>
                </a:solidFill>
              </a:rPr>
              <a:t> ! </a:t>
            </a:r>
            <a:r>
              <a:rPr lang="en-CA" dirty="0" err="1">
                <a:solidFill>
                  <a:schemeClr val="accent2">
                    <a:lumMod val="50000"/>
                  </a:schemeClr>
                </a:solidFill>
              </a:rPr>
              <a:t>autovideosink</a:t>
            </a:r>
            <a:r>
              <a:rPr lang="en-CA" dirty="0">
                <a:solidFill>
                  <a:schemeClr val="accent2">
                    <a:lumMod val="50000"/>
                  </a:schemeClr>
                </a:solidFill>
              </a:rPr>
              <a:t> </a:t>
            </a:r>
          </a:p>
          <a:p>
            <a:pPr marL="457200" lvl="1" indent="0">
              <a:buNone/>
            </a:pPr>
            <a:br>
              <a:rPr lang="en-CA" dirty="0"/>
            </a:br>
            <a:br>
              <a:rPr lang="en-CA" dirty="0"/>
            </a:br>
            <a:br>
              <a:rPr lang="en-CA" dirty="0">
                <a:hlinkClick r:id="rId2" action="ppaction://hlinkfile"/>
              </a:rPr>
            </a:br>
            <a:br>
              <a:rPr lang="en-CA" dirty="0"/>
            </a:br>
            <a:endParaRPr lang="en-CA" dirty="0"/>
          </a:p>
          <a:p>
            <a:pPr lvl="1"/>
            <a:endParaRPr lang="en-CA" dirty="0"/>
          </a:p>
        </p:txBody>
      </p:sp>
    </p:spTree>
    <p:extLst>
      <p:ext uri="{BB962C8B-B14F-4D97-AF65-F5344CB8AC3E}">
        <p14:creationId xmlns:p14="http://schemas.microsoft.com/office/powerpoint/2010/main" val="358853829"/>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515BF7A2E5FC441995B28BB99510E76" ma:contentTypeVersion="18" ma:contentTypeDescription="Create a new document." ma:contentTypeScope="" ma:versionID="ab9afdff045594d1c913a37ffc322859">
  <xsd:schema xmlns:xsd="http://www.w3.org/2001/XMLSchema" xmlns:xs="http://www.w3.org/2001/XMLSchema" xmlns:p="http://schemas.microsoft.com/office/2006/metadata/properties" xmlns:ns2="aae97260-eccc-41dd-9278-bd83191670fb" xmlns:ns3="edb9d0e4-5370-4cfb-9e4e-bdf6de379f60" xmlns:ns4="5287d3d9-cab2-4797-ad65-75a72ac8c12b" targetNamespace="http://schemas.microsoft.com/office/2006/metadata/properties" ma:root="true" ma:fieldsID="710e38b82ef9efb5875502a9a875bb57" ns2:_="" ns3:_="" ns4:_="">
    <xsd:import namespace="aae97260-eccc-41dd-9278-bd83191670fb"/>
    <xsd:import namespace="edb9d0e4-5370-4cfb-9e4e-bdf6de379f60"/>
    <xsd:import namespace="5287d3d9-cab2-4797-ad65-75a72ac8c12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GenerationTime" minOccurs="0"/>
                <xsd:element ref="ns2:MediaServiceEventHashCode" minOccurs="0"/>
                <xsd:element ref="ns2:MediaServiceAutoKeyPoints" minOccurs="0"/>
                <xsd:element ref="ns2:MediaServiceKeyPoints" minOccurs="0"/>
                <xsd:element ref="ns2:MediaServiceOCR" minOccurs="0"/>
                <xsd:element ref="ns2:MediaLengthInSeconds" minOccurs="0"/>
                <xsd:element ref="ns2:lcf76f155ced4ddcb4097134ff3c332f" minOccurs="0"/>
                <xsd:element ref="ns3:TaxCatchAll" minOccurs="0"/>
                <xsd:element ref="ns2:MediaServiceObjectDetectorVersions" minOccurs="0"/>
                <xsd:element ref="ns2:MediaServiceLocation" minOccurs="0"/>
                <xsd:element ref="ns4:SharedWithUsers" minOccurs="0"/>
                <xsd:element ref="ns4: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e97260-eccc-41dd-9278-bd83191670f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dd084387-097e-4aef-8f33-0dee7b0eb57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db9d0e4-5370-4cfb-9e4e-bdf6de379f60" elementFormDefault="qualified">
    <xsd:import namespace="http://schemas.microsoft.com/office/2006/documentManagement/types"/>
    <xsd:import namespace="http://schemas.microsoft.com/office/infopath/2007/PartnerControls"/>
    <xsd:element name="TaxCatchAll" ma:index="20" nillable="true" ma:displayName="Taxonomy Catch All Column" ma:hidden="true" ma:list="{36b9c8ff-c3bc-482b-92a4-f3076fa5461e}" ma:internalName="TaxCatchAll" ma:showField="CatchAllData" ma:web="5287d3d9-cab2-4797-ad65-75a72ac8c12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287d3d9-cab2-4797-ad65-75a72ac8c12b" elementFormDefault="qualified">
    <xsd:import namespace="http://schemas.microsoft.com/office/2006/documentManagement/types"/>
    <xsd:import namespace="http://schemas.microsoft.com/office/infopath/2007/PartnerControls"/>
    <xsd:element name="SharedWithUsers" ma:index="2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4"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ae97260-eccc-41dd-9278-bd83191670fb">
      <Terms xmlns="http://schemas.microsoft.com/office/infopath/2007/PartnerControls"/>
    </lcf76f155ced4ddcb4097134ff3c332f>
    <TaxCatchAll xmlns="edb9d0e4-5370-4cfb-9e4e-bdf6de379f60" xsi:nil="true"/>
  </documentManagement>
</p:properties>
</file>

<file path=customXml/itemProps1.xml><?xml version="1.0" encoding="utf-8"?>
<ds:datastoreItem xmlns:ds="http://schemas.openxmlformats.org/officeDocument/2006/customXml" ds:itemID="{15322726-3CE0-4837-8159-BD192758888C}"/>
</file>

<file path=customXml/itemProps2.xml><?xml version="1.0" encoding="utf-8"?>
<ds:datastoreItem xmlns:ds="http://schemas.openxmlformats.org/officeDocument/2006/customXml" ds:itemID="{9036C9AE-6834-4DF5-9646-19BE95C58509}"/>
</file>

<file path=customXml/itemProps3.xml><?xml version="1.0" encoding="utf-8"?>
<ds:datastoreItem xmlns:ds="http://schemas.openxmlformats.org/officeDocument/2006/customXml" ds:itemID="{D40AC838-6DB8-4067-99DD-9F42AA85328F}"/>
</file>

<file path=docProps/app.xml><?xml version="1.0" encoding="utf-8"?>
<Properties xmlns="http://schemas.openxmlformats.org/officeDocument/2006/extended-properties" xmlns:vt="http://schemas.openxmlformats.org/officeDocument/2006/docPropsVTypes">
  <TotalTime>70</TotalTime>
  <Words>679</Words>
  <Application>Microsoft Office PowerPoint</Application>
  <PresentationFormat>Widescreen</PresentationFormat>
  <Paragraphs>137</Paragraphs>
  <Slides>22</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vt:lpstr>
      <vt:lpstr>Calibri</vt:lpstr>
      <vt:lpstr>Century Gothic</vt:lpstr>
      <vt:lpstr>Century Gothic (Body)</vt:lpstr>
      <vt:lpstr>Consolas</vt:lpstr>
      <vt:lpstr>Courier New</vt:lpstr>
      <vt:lpstr>Times New Roman</vt:lpstr>
      <vt:lpstr>Wingdings 3</vt:lpstr>
      <vt:lpstr>Wisp</vt:lpstr>
      <vt:lpstr>NDI and GStreamer</vt:lpstr>
      <vt:lpstr>Architecture</vt:lpstr>
      <vt:lpstr>Direct Show</vt:lpstr>
      <vt:lpstr>Broadcast Industry</vt:lpstr>
      <vt:lpstr>GStreamer</vt:lpstr>
      <vt:lpstr>GStreamer Features</vt:lpstr>
      <vt:lpstr>Gtype/GObject</vt:lpstr>
      <vt:lpstr>Pads</vt:lpstr>
      <vt:lpstr>NDI Track Data</vt:lpstr>
      <vt:lpstr>CAPISample</vt:lpstr>
      <vt:lpstr>NDI Elements</vt:lpstr>
      <vt:lpstr>Register NDI Elements</vt:lpstr>
      <vt:lpstr>PowerPoint Presentation</vt:lpstr>
      <vt:lpstr>PowerPoint Presentation</vt:lpstr>
      <vt:lpstr>PowerPoint Presentation</vt:lpstr>
      <vt:lpstr>Simplified Pipeline</vt:lpstr>
      <vt:lpstr>trackbin</vt:lpstr>
      <vt:lpstr>trackbin</vt:lpstr>
      <vt:lpstr>Element Communication </vt:lpstr>
      <vt:lpstr>Matching Track Data to Video</vt:lpstr>
      <vt:lpstr>Track Data</vt:lpstr>
      <vt:lpstr>NDI Elements in use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NDI and GStreamer</dc:title>
  <dc:creator>Carey Murray</dc:creator>
  <cp:lastModifiedBy>Carey Murray</cp:lastModifiedBy>
  <cp:revision>4</cp:revision>
  <dcterms:created xsi:type="dcterms:W3CDTF">2019-06-24T22:01:54Z</dcterms:created>
  <dcterms:modified xsi:type="dcterms:W3CDTF">2019-06-25T15:46:05Z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0x0101002515BF7A2E5FC441995B28BB99510E76</vt:lpwstr>
  </property>
</Properties>
</file>